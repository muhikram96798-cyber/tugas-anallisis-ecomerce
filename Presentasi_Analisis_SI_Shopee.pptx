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pagi/siang Bapak/Ibu dosen penguji serta rekan-rekan sekalian. Pada presentasi 15 menit hari ini, saya akan menyajikan tugas analisis Sistem Informasi Shopee yang disusun secara terstruktur dalam bentuk Tabel Analisis Akademik, mencakup Model IPO, 6 Prinsip Perancangan SI, Klasifikasi Sistem, hingga Evaluasi Arsitekturnya.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Seluruh materi tugas ini telah saya sesuaikan ke dalam format matriks tabel analisis: Dimulai dari Tabel Analisis IPO lintas 4 pilar ekosistem, Landasan Teori Enam Komponen SI dari perkuliahan, dilanjutkan Tabel Analisis 6 Prinsip Perancangan SI sesuai materi kuliah, Tabel Klasifikasi Taksonomi SI, dan ditutup dengan Tabel Evaluasi Kritis Kelebihan, Kelemahan, serta Rekomendasi Solusinya.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 pertama adalah Tabel Analisis IPO pada 4 pilar ekosistem Shopee: Pilar Pembeli menerima input keranjang dan bayar, diproses lewat Garansi Shopee dan verifikasi OTP, menghasilkan invoice dan live tracking kurir. Pilar Penjual menerima katalog produk, diproses kalkulasi komisi dan SEO, menghasilkan label resi dan saldo toko. Pilar FinTech SPayLater memproses KTP dan credit scoring, menghasilkan limit kredit. Pilar Logistik SPX memproses scan resi dan optimasi rute kurir, menghasilkan bukti serah terima paket.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Untuk melengkapi tabel analisis IPO tadi, di slide ini saya lampirkan bukti visual nyata dari aplikasi Shopee: Gambar pertama membuktikan Input di halaman Checkout saat memilih barang dan alamat. Gambar kedua membuktikan Proses sistem Garansi Shopee di mana pembayaran ditahan di rekening penampung. Gambar ketiga membuktikan Output peta pelacakan posisi kurir SPX secara live.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Pada slide ini, teori perkuliahan mengenai Enam Komponen Sistem Informasi kita bedah langsung secara spesifik pada arsitektur ekosistem Shopee. Pertama, Perangkat Keras: server cloud AWS/Tencent, smartphone pengguna, hingga scanner barcode kurir SPX. Kedua, Perangkat Lunak: aplikasi Shopee, microservices Go/Java, TiDB, dan Redis. Ketiga, Data: katalog SKU, order escrow, GPS kurir, dan skor SPayLater. Keempat, Jaringan: 4G/5G, CDN Cloudflare, dan API Gateway. Kelima, Prosedur: SOP Garansi Shopee dan SLA kurir. Serta keenam, Manusia: pembeli, penjual, kurir, dan staf IT. Sesuai catatan dosen: secanggih apa pun Shopee, keberhasilannya ditentukan oleh manusianya.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 kedua adalah Analisis 6 Prinsip Perancangan Sistem Informasi sesuai materi perkuliahan dosen: Prinsip 1 Berorientasi Pengguna diterapkan Shopee lewat fitur COD dan chat penjual. Prinsip 2 Sederhana diterapkan lewat checkout 3 langkah, namun dikritik karena mulai melanggar akibat bloatware game dan iklan. Prinsip 3 Terintegrasi diterapkan lewat Single Source of Truth di mana 1 akun terhubung ke ShopeePay, SPayLater, dan Food, serta stok terpotong serentak.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Melanjutkan Tabel Analisis Prinsip 4 sampai 6: Prinsip 4 Aman diterapkan lewat Role-Based Access Control ketat antara pembeli, penjual di Seller Centre, kurir SPX, dan enkripsi TLS 1.3. Prinsip 5 Mudah Dipelihara diterapkan melalui arsitektur Microservices Go dan Java sehingga perbaikan modul tidak mematikan sistem. Prinsip 6 Dapat Dikembangkan diterapkan lewat Cloud Auto-Scaling yang mampu memproses lonjakan pesanan puluhan juta saat festival belanja 11.11.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 materi perkuliahan ada pertanyaan diskusi penting: 'Aplikasi canggih tetapi pengguna kembali ke kertas, prinsip mana yang dilanggar?'. Dalam analisis saya, ada 2 prinsip yang dilanggar: Prinsip Sederhana karena alur sistem terlalu berbelit dan lambat dibanding kertas, serta Prinsip Berorientasi Pengguna karena sistem dibuat berdasarkan keinginan programmer, bukan kebiasaan nyata pengguna. Pada Shopee, ini nyata terjadi pada pedagang UMKM tradisional yang lebih nyaman mencatat bon kertas manual karena menu komisi Shopee dirasa terlalu rumit.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 ketiga adalah Tabel Analisis Klasifikasi Jenis Sistem Informasi di Shopee: TPS di level operasional memproses jutaan checkout real-time dengan kaidah ACID. MIS di level manajerial lewat Shopee Seller Centre mengubah data mentah transaksi menjadi grafik laporan omzet toko. DSS di level analitik cerdas menerapkan AI untuk penentuan limit kredit SPayLater dan rute kurir. Dan IOS menghubungkan Shopee ke sistem perbankan dan ekspedisi secara terpadu tanpa campur tangan manual.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 keempat adalah Tabel Analisis Evaluasi Perancangan Sistem: Kelebihannya adalah skalabilitas microservices yang sangat tinggi saat 11.11 dan integrasi ekosistem yang rapat. Kelemahannya adalah terjadinya Application Bloatware yang membuat aplikasi berat dan nge-lag di HP spek rendah, serta latency saat flash sale. Celah keamanannya ada pada rekayasa sosial penipuan OTP. Saya merekomendasikan solusi Shopee Lite dan biometrik FIDO2 Passkeys.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Sebelum menutup, saya tegaskan bahwa seluruh data pada tabel analisis ini berlandaskan fakta resmi: Shopee Engineering Blog untuk arsitektur microservices Go/Java dan database Redis, Laporan Keterbukaan Sea Limited di bursa saham NYSE untuk data cloud Tencent dan AWS, Regulasi OJK untuk operasional SPayLater, serta ketentuan resmi Garansi Shopee.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pendukung presentasi mengenai demonstrasi aplikasi dan alur interaksi pengguna Shopee.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Sebagai kesimpulan akhir: Penyajian dalam bentuk tabel analisis ini memperlihatkan bahwa arsitektur Sistem Informasi Shopee telah memenuhi prinsip integrasi, keamanan akses, dan skalabilitas tinggi. Namun penegakan prinsip kesederhanaan dan perlindungan dari rekayasa sosial tetap menjadi catatan kritis ke depan. Terima kasih banyak atas perhatian Bapak/Ibu dosen dan rekan-rekan, sesi tanya jawab saya buka!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ectangle 1"/>
          <p:cNvSpPr/>
          <p:nvPr/>
        </p:nvSpPr>
        <p:spPr>
          <a:xfrm>
            <a:off x="731520" y="731520"/>
            <a:ext cx="10728655" cy="5394960"/>
          </a:xfrm>
          <a:prstGeom prst="rect">
            <a:avLst/>
          </a:prstGeom>
          <a:solidFill>
            <a:srgbClr val="101624"/>
          </a:solidFill>
          <a:ln w="1905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10728655" cy="73152"/>
          </a:xfrm>
          <a:prstGeom prst="rect">
            <a:avLst/>
          </a:prstGeom>
          <a:solidFill>
            <a:srgbClr val="EE4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463040"/>
            <a:ext cx="9448495" cy="3931920"/>
          </a:xfrm>
          <a:prstGeom prst="rect">
            <a:avLst/>
          </a:prstGeom>
          <a:noFill/>
        </p:spPr>
        <p:txBody>
          <a:bodyPr wrap="square" lIns="0" tIns="0" rIns="0" bIns="0">
            <a:spAutoFit/>
          </a:bodyPr>
          <a:lstStyle/>
          <a:p>
            <a:pPr>
              <a:spcAft>
                <a:spcPts val="1800"/>
              </a:spcAft>
              <a:defRPr sz="1300" b="1">
                <a:solidFill>
                  <a:srgbClr val="EE4D2D"/>
                </a:solidFill>
                <a:latin typeface="Arial"/>
              </a:defRPr>
            </a:pPr>
            <a:r>
              <a:t>TUGAS SISTEM INFORMASI  •  FORMAT TABEL ANALISIS</a:t>
            </a:r>
          </a:p>
          <a:p>
            <a:pPr>
              <a:spcAft>
                <a:spcPts val="1600"/>
              </a:spcAft>
              <a:defRPr sz="3600" b="1">
                <a:solidFill>
                  <a:srgbClr val="F8FAFC"/>
                </a:solidFill>
                <a:latin typeface="Arial"/>
              </a:defRPr>
            </a:pPr>
            <a:r>
              <a:t>Tabel Analisis Sistem Informasi Shopee</a:t>
            </a:r>
          </a:p>
          <a:p>
            <a:pPr>
              <a:spcAft>
                <a:spcPts val="4000"/>
              </a:spcAft>
              <a:defRPr sz="1700">
                <a:solidFill>
                  <a:srgbClr val="9AA4B2"/>
                </a:solidFill>
                <a:latin typeface="Arial"/>
              </a:defRPr>
            </a:pPr>
            <a:r>
              <a:t>Penyajian Terstruktur: Tabel Analisis IPO 4 Pilar, Tabel 6 Prinsip Perancangan SI,</a:t>
            </a:r>
            <a:br/>
            <a:r>
              <a:t>Taksonomi Jenis SI, &amp; Evaluasi Arsitektur.</a:t>
            </a:r>
          </a:p>
          <a:p>
            <a:pPr>
              <a:defRPr sz="1300" b="1">
                <a:solidFill>
                  <a:srgbClr val="94A3B8"/>
                </a:solidFill>
                <a:latin typeface="Arial"/>
              </a:defRPr>
            </a:pPr>
            <a:r>
              <a:t>Presentasi Individu 15 Menit  •  Program Studi Sistem Informasi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l">
              <a:spcAft>
                <a:spcPts val="400"/>
              </a:spcAft>
              <a:defRPr sz="1100" b="1">
                <a:solidFill>
                  <a:srgbClr val="EE4D2D"/>
                </a:solidFill>
                <a:latin typeface="Arial"/>
              </a:defRPr>
            </a:pPr>
            <a:r>
              <a:t>STRUKTUR TUGAS (FORMAT TABEL ANALISIS)</a:t>
            </a:r>
          </a:p>
          <a:p>
            <a:pPr algn="l">
              <a:defRPr sz="2200" b="1">
                <a:solidFill>
                  <a:srgbClr val="F8FAFC"/>
                </a:solidFill>
                <a:latin typeface="Arial"/>
              </a:defRPr>
            </a:pPr>
            <a:r>
              <a:t>Daftar Tabel Analisis Pembahasan</a:t>
            </a:r>
          </a:p>
        </p:txBody>
      </p:sp>
      <p:sp>
        <p:nvSpPr>
          <p:cNvPr id="3" name="Rounded Rectangle 2"/>
          <p:cNvSpPr/>
          <p:nvPr/>
        </p:nvSpPr>
        <p:spPr>
          <a:xfrm>
            <a:off x="731520" y="1463040"/>
            <a:ext cx="10728655" cy="713232"/>
          </a:xfrm>
          <a:prstGeom prst="roundRect">
            <a:avLst/>
          </a:prstGeom>
          <a:solidFill>
            <a:srgbClr val="171F33"/>
          </a:solidFill>
          <a:ln w="12700">
            <a:solidFill>
              <a:srgbClr val="2E3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572768"/>
            <a:ext cx="10180015" cy="502920"/>
          </a:xfrm>
          <a:prstGeom prst="rect">
            <a:avLst/>
          </a:prstGeom>
          <a:noFill/>
        </p:spPr>
        <p:txBody>
          <a:bodyPr wrap="square" lIns="0" tIns="0" rIns="0" bIns="0">
            <a:spAutoFit/>
          </a:bodyPr>
          <a:lstStyle/>
          <a:p>
            <a:r>
              <a:rPr b="1" sz="1400">
                <a:solidFill>
                  <a:srgbClr val="EE4D2D"/>
                </a:solidFill>
              </a:rPr>
              <a:t>01   </a:t>
            </a:r>
            <a:r>
              <a:rPr b="1" sz="1400">
                <a:solidFill>
                  <a:srgbClr val="F8FAFC"/>
                </a:solidFill>
              </a:rPr>
              <a:t>Tabel 1: Analisis Model Input – Proses – Output (IPO)   </a:t>
            </a:r>
            <a:r>
              <a:rPr sz="1200">
                <a:solidFill>
                  <a:srgbClr val="9AA4B2"/>
                </a:solidFill>
              </a:rPr>
              <a:t>—  4 Pilar Ekosistem Shopee</a:t>
            </a:r>
          </a:p>
        </p:txBody>
      </p:sp>
      <p:sp>
        <p:nvSpPr>
          <p:cNvPr id="5" name="Rounded Rectangle 4"/>
          <p:cNvSpPr/>
          <p:nvPr/>
        </p:nvSpPr>
        <p:spPr>
          <a:xfrm>
            <a:off x="731520" y="2267712"/>
            <a:ext cx="10728655" cy="713232"/>
          </a:xfrm>
          <a:prstGeom prst="roundRect">
            <a:avLst/>
          </a:prstGeom>
          <a:solidFill>
            <a:srgbClr val="171F33"/>
          </a:solidFill>
          <a:ln w="12700">
            <a:solidFill>
              <a:srgbClr val="2E3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377440"/>
            <a:ext cx="10180015" cy="502920"/>
          </a:xfrm>
          <a:prstGeom prst="rect">
            <a:avLst/>
          </a:prstGeom>
          <a:noFill/>
        </p:spPr>
        <p:txBody>
          <a:bodyPr wrap="square" lIns="0" tIns="0" rIns="0" bIns="0">
            <a:spAutoFit/>
          </a:bodyPr>
          <a:lstStyle/>
          <a:p>
            <a:r>
              <a:rPr b="1" sz="1400">
                <a:solidFill>
                  <a:srgbClr val="EE4D2D"/>
                </a:solidFill>
              </a:rPr>
              <a:t>02   </a:t>
            </a:r>
            <a:r>
              <a:rPr b="1" sz="1400">
                <a:solidFill>
                  <a:srgbClr val="F8FAFC"/>
                </a:solidFill>
              </a:rPr>
              <a:t>Landasan Teori: Enam Komponen Sistem Informasi   </a:t>
            </a:r>
            <a:r>
              <a:rPr sz="1200">
                <a:solidFill>
                  <a:srgbClr val="9AA4B2"/>
                </a:solidFill>
              </a:rPr>
              <a:t>—  Slide Perkuliahan &amp; Studi Kasus Shopee</a:t>
            </a:r>
          </a:p>
        </p:txBody>
      </p:sp>
      <p:sp>
        <p:nvSpPr>
          <p:cNvPr id="7" name="Rounded Rectangle 6"/>
          <p:cNvSpPr/>
          <p:nvPr/>
        </p:nvSpPr>
        <p:spPr>
          <a:xfrm>
            <a:off x="731520" y="3072384"/>
            <a:ext cx="10728655" cy="713232"/>
          </a:xfrm>
          <a:prstGeom prst="roundRect">
            <a:avLst/>
          </a:prstGeom>
          <a:solidFill>
            <a:srgbClr val="171F33"/>
          </a:solidFill>
          <a:ln w="12700">
            <a:solidFill>
              <a:srgbClr val="2E3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182112"/>
            <a:ext cx="10180015" cy="502920"/>
          </a:xfrm>
          <a:prstGeom prst="rect">
            <a:avLst/>
          </a:prstGeom>
          <a:noFill/>
        </p:spPr>
        <p:txBody>
          <a:bodyPr wrap="square" lIns="0" tIns="0" rIns="0" bIns="0">
            <a:spAutoFit/>
          </a:bodyPr>
          <a:lstStyle/>
          <a:p>
            <a:r>
              <a:rPr b="1" sz="1400">
                <a:solidFill>
                  <a:srgbClr val="EE4D2D"/>
                </a:solidFill>
              </a:rPr>
              <a:t>03   </a:t>
            </a:r>
            <a:r>
              <a:rPr b="1" sz="1400">
                <a:solidFill>
                  <a:srgbClr val="F8FAFC"/>
                </a:solidFill>
              </a:rPr>
              <a:t>Tabel 2: Analisis 6 Prinsip Perancangan Sistem Informasi   </a:t>
            </a:r>
            <a:r>
              <a:rPr sz="1200">
                <a:solidFill>
                  <a:srgbClr val="9AA4B2"/>
                </a:solidFill>
              </a:rPr>
              <a:t>—  Sesuai Slide Teori Perkuliahan</a:t>
            </a:r>
          </a:p>
        </p:txBody>
      </p:sp>
      <p:sp>
        <p:nvSpPr>
          <p:cNvPr id="9" name="Rounded Rectangle 8"/>
          <p:cNvSpPr/>
          <p:nvPr/>
        </p:nvSpPr>
        <p:spPr>
          <a:xfrm>
            <a:off x="731520" y="3877056"/>
            <a:ext cx="10728655" cy="713232"/>
          </a:xfrm>
          <a:prstGeom prst="roundRect">
            <a:avLst/>
          </a:prstGeom>
          <a:solidFill>
            <a:srgbClr val="171F33"/>
          </a:solidFill>
          <a:ln w="12700">
            <a:solidFill>
              <a:srgbClr val="2E3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986784"/>
            <a:ext cx="10180015" cy="502920"/>
          </a:xfrm>
          <a:prstGeom prst="rect">
            <a:avLst/>
          </a:prstGeom>
          <a:noFill/>
        </p:spPr>
        <p:txBody>
          <a:bodyPr wrap="square" lIns="0" tIns="0" rIns="0" bIns="0">
            <a:spAutoFit/>
          </a:bodyPr>
          <a:lstStyle/>
          <a:p>
            <a:r>
              <a:rPr b="1" sz="1400">
                <a:solidFill>
                  <a:srgbClr val="EE4D2D"/>
                </a:solidFill>
              </a:rPr>
              <a:t>04   </a:t>
            </a:r>
            <a:r>
              <a:rPr b="1" sz="1400">
                <a:solidFill>
                  <a:srgbClr val="F8FAFC"/>
                </a:solidFill>
              </a:rPr>
              <a:t>Tabel 3: Analisis Klasifikasi Jenis Sistem Informasi   </a:t>
            </a:r>
            <a:r>
              <a:rPr sz="1200">
                <a:solidFill>
                  <a:srgbClr val="9AA4B2"/>
                </a:solidFill>
              </a:rPr>
              <a:t>—  TPS, MIS, DSS, &amp; IOS Beserta Alasannya</a:t>
            </a:r>
          </a:p>
        </p:txBody>
      </p:sp>
      <p:sp>
        <p:nvSpPr>
          <p:cNvPr id="11" name="Rounded Rectangle 10"/>
          <p:cNvSpPr/>
          <p:nvPr/>
        </p:nvSpPr>
        <p:spPr>
          <a:xfrm>
            <a:off x="731520" y="4681728"/>
            <a:ext cx="10728655" cy="713232"/>
          </a:xfrm>
          <a:prstGeom prst="roundRect">
            <a:avLst/>
          </a:prstGeom>
          <a:solidFill>
            <a:srgbClr val="171F33"/>
          </a:solidFill>
          <a:ln w="12700">
            <a:solidFill>
              <a:srgbClr val="2E3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791456"/>
            <a:ext cx="10180015" cy="502920"/>
          </a:xfrm>
          <a:prstGeom prst="rect">
            <a:avLst/>
          </a:prstGeom>
          <a:noFill/>
        </p:spPr>
        <p:txBody>
          <a:bodyPr wrap="square" lIns="0" tIns="0" rIns="0" bIns="0">
            <a:spAutoFit/>
          </a:bodyPr>
          <a:lstStyle/>
          <a:p>
            <a:r>
              <a:rPr b="1" sz="1400">
                <a:solidFill>
                  <a:srgbClr val="EE4D2D"/>
                </a:solidFill>
              </a:rPr>
              <a:t>05   </a:t>
            </a:r>
            <a:r>
              <a:rPr b="1" sz="1400">
                <a:solidFill>
                  <a:srgbClr val="F8FAFC"/>
                </a:solidFill>
              </a:rPr>
              <a:t>Tabel 4: Analisis Evaluasi Perancangan Sistem   </a:t>
            </a:r>
            <a:r>
              <a:rPr sz="1200">
                <a:solidFill>
                  <a:srgbClr val="9AA4B2"/>
                </a:solidFill>
              </a:rPr>
              <a:t>—  Kelebihan, Bloatware, &amp; Solusi Rekayasa SI</a:t>
            </a:r>
          </a:p>
        </p:txBody>
      </p:sp>
      <p:sp>
        <p:nvSpPr>
          <p:cNvPr id="13" name="Rounded Rectangle 12"/>
          <p:cNvSpPr/>
          <p:nvPr/>
        </p:nvSpPr>
        <p:spPr>
          <a:xfrm>
            <a:off x="731520" y="5486400"/>
            <a:ext cx="10728655" cy="713232"/>
          </a:xfrm>
          <a:prstGeom prst="roundRect">
            <a:avLst/>
          </a:prstGeom>
          <a:solidFill>
            <a:srgbClr val="171F33"/>
          </a:solidFill>
          <a:ln w="12700">
            <a:solidFill>
              <a:srgbClr val="2E3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596128"/>
            <a:ext cx="10180015" cy="502920"/>
          </a:xfrm>
          <a:prstGeom prst="rect">
            <a:avLst/>
          </a:prstGeom>
          <a:noFill/>
        </p:spPr>
        <p:txBody>
          <a:bodyPr wrap="square" lIns="0" tIns="0" rIns="0" bIns="0">
            <a:spAutoFit/>
          </a:bodyPr>
          <a:lstStyle/>
          <a:p>
            <a:r>
              <a:rPr b="1" sz="1400">
                <a:solidFill>
                  <a:srgbClr val="EE4D2D"/>
                </a:solidFill>
              </a:rPr>
              <a:t>06   </a:t>
            </a:r>
            <a:r>
              <a:rPr b="1" sz="1400">
                <a:solidFill>
                  <a:srgbClr val="F8FAFC"/>
                </a:solidFill>
              </a:rPr>
              <a:t>Validasi Faktual &amp; Media Demonstrasi (Q&amp;A)   </a:t>
            </a:r>
            <a:r>
              <a:rPr sz="1200">
                <a:solidFill>
                  <a:srgbClr val="9AA4B2"/>
                </a:solidFill>
              </a:rPr>
              <a:t>—  Rujukan Resmi, Video, &amp; Diskusi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l">
              <a:spcAft>
                <a:spcPts val="400"/>
              </a:spcAft>
              <a:defRPr sz="1100" b="1">
                <a:solidFill>
                  <a:srgbClr val="EE4D2D"/>
                </a:solidFill>
                <a:latin typeface="Arial"/>
              </a:defRPr>
            </a:pPr>
            <a:r>
              <a:t>TABEL ANALISIS 1 · SIKLUS INPUT – PROSES – OUTPUT (IPO)</a:t>
            </a:r>
          </a:p>
          <a:p>
            <a:pPr algn="l">
              <a:defRPr sz="2200" b="1">
                <a:solidFill>
                  <a:srgbClr val="F8FAFC"/>
                </a:solidFill>
                <a:latin typeface="Arial"/>
              </a:defRPr>
            </a:pPr>
            <a:r>
              <a:t>Matriks Analisis IPO pada 4 Pilar Ekosistem Shopee</a:t>
            </a:r>
          </a:p>
        </p:txBody>
      </p:sp>
      <p:graphicFrame>
        <p:nvGraphicFramePr>
          <p:cNvPr id="3" name="Table 2"/>
          <p:cNvGraphicFramePr>
            <a:graphicFrameLocks noGrp="1"/>
          </p:cNvGraphicFramePr>
          <p:nvPr/>
        </p:nvGraphicFramePr>
        <p:xfrm>
          <a:off x="731520" y="1463040"/>
          <a:ext cx="10728655" cy="4846320"/>
        </p:xfrm>
        <a:graphic>
          <a:graphicData uri="http://schemas.openxmlformats.org/drawingml/2006/table">
            <a:tbl>
              <a:tblPr firstRow="1" bandRow="1">
                <a:tableStyleId>{5C22544A-7EE6-4342-B048-85BDC9FD1C3A}</a:tableStyleId>
              </a:tblPr>
              <a:tblGrid>
                <a:gridCol w="1828800"/>
                <a:gridCol w="2468880"/>
                <a:gridCol w="2468880"/>
                <a:gridCol w="2468880"/>
                <a:gridCol w="1493215"/>
              </a:tblGrid>
              <a:tr h="969264">
                <a:tc>
                  <a:txBody>
                    <a:bodyPr/>
                    <a:lstStyle/>
                    <a:p>
                      <a:pPr algn="l">
                        <a:defRPr b="1" sz="1050">
                          <a:solidFill>
                            <a:srgbClr val="FF7A45"/>
                          </a:solidFill>
                          <a:latin typeface="Arial"/>
                        </a:defRPr>
                      </a:pPr>
                      <a:r>
                        <a:t>Pilar / Entitas Sistem</a:t>
                      </a:r>
                    </a:p>
                  </a:txBody>
                  <a:tcPr anchor="ctr">
                    <a:solidFill>
                      <a:srgbClr val="1C263D"/>
                    </a:solidFill>
                  </a:tcPr>
                </a:tc>
                <a:tc>
                  <a:txBody>
                    <a:bodyPr/>
                    <a:lstStyle/>
                    <a:p>
                      <a:pPr algn="l">
                        <a:defRPr b="1" sz="1050">
                          <a:solidFill>
                            <a:srgbClr val="FF7A45"/>
                          </a:solidFill>
                          <a:latin typeface="Arial"/>
                        </a:defRPr>
                      </a:pPr>
                      <a:r>
                        <a:t>📥 Input (Masukan)</a:t>
                      </a:r>
                    </a:p>
                  </a:txBody>
                  <a:tcPr anchor="ctr">
                    <a:solidFill>
                      <a:srgbClr val="1C263D"/>
                    </a:solidFill>
                  </a:tcPr>
                </a:tc>
                <a:tc>
                  <a:txBody>
                    <a:bodyPr/>
                    <a:lstStyle/>
                    <a:p>
                      <a:pPr algn="l">
                        <a:defRPr b="1" sz="1050">
                          <a:solidFill>
                            <a:srgbClr val="FF7A45"/>
                          </a:solidFill>
                          <a:latin typeface="Arial"/>
                        </a:defRPr>
                      </a:pPr>
                      <a:r>
                        <a:t>⚙️ Proses (Logika Bisnis)</a:t>
                      </a:r>
                    </a:p>
                  </a:txBody>
                  <a:tcPr anchor="ctr">
                    <a:solidFill>
                      <a:srgbClr val="1C263D"/>
                    </a:solidFill>
                  </a:tcPr>
                </a:tc>
                <a:tc>
                  <a:txBody>
                    <a:bodyPr/>
                    <a:lstStyle/>
                    <a:p>
                      <a:pPr algn="l">
                        <a:defRPr b="1" sz="1050">
                          <a:solidFill>
                            <a:srgbClr val="FF7A45"/>
                          </a:solidFill>
                          <a:latin typeface="Arial"/>
                        </a:defRPr>
                      </a:pPr>
                      <a:r>
                        <a:t>📤 Output (Keluaran)</a:t>
                      </a:r>
                    </a:p>
                  </a:txBody>
                  <a:tcPr anchor="ctr">
                    <a:solidFill>
                      <a:srgbClr val="1C263D"/>
                    </a:solidFill>
                  </a:tcPr>
                </a:tc>
                <a:tc>
                  <a:txBody>
                    <a:bodyPr/>
                    <a:lstStyle/>
                    <a:p>
                      <a:pPr algn="l">
                        <a:defRPr b="1" sz="1050">
                          <a:solidFill>
                            <a:srgbClr val="FF7A45"/>
                          </a:solidFill>
                          <a:latin typeface="Arial"/>
                        </a:defRPr>
                      </a:pPr>
                      <a:r>
                        <a:t>Fitur Terkait</a:t>
                      </a:r>
                    </a:p>
                  </a:txBody>
                  <a:tcPr anchor="ctr">
                    <a:solidFill>
                      <a:srgbClr val="1C263D"/>
                    </a:solidFill>
                  </a:tcPr>
                </a:tc>
              </a:tr>
              <a:tr h="969264">
                <a:tc>
                  <a:txBody>
                    <a:bodyPr wrap="square" lIns="73152" rIns="73152" tIns="54864" bIns="54864"/>
                    <a:lstStyle/>
                    <a:p>
                      <a:pPr>
                        <a:defRPr sz="950" b="1">
                          <a:solidFill>
                            <a:srgbClr val="F8FAFC"/>
                          </a:solidFill>
                          <a:latin typeface="Arial"/>
                        </a:defRPr>
                      </a:pPr>
                      <a:r>
                        <a:t>1. Sisi Pembeli</a:t>
                      </a:r>
                    </a:p>
                    <a:p>
                      <a:pPr>
                        <a:defRPr sz="950" b="1">
                          <a:solidFill>
                            <a:srgbClr val="F8FAFC"/>
                          </a:solidFill>
                          <a:latin typeface="Arial"/>
                        </a:defRPr>
                      </a:pPr>
                      <a:r>
                        <a:t>(Buyer)</a:t>
                      </a:r>
                    </a:p>
                  </a:txBody>
                  <a:tcPr anchor="ctr">
                    <a:solidFill>
                      <a:srgbClr val="171F33"/>
                    </a:solidFill>
                  </a:tcPr>
                </a:tc>
                <a:tc>
                  <a:txBody>
                    <a:bodyPr wrap="square" lIns="73152" rIns="73152" tIns="54864" bIns="54864"/>
                    <a:lstStyle/>
                    <a:p>
                      <a:pPr>
                        <a:defRPr sz="950">
                          <a:solidFill>
                            <a:srgbClr val="F8FAFC"/>
                          </a:solidFill>
                          <a:latin typeface="Arial"/>
                        </a:defRPr>
                      </a:pPr>
                      <a:r>
                        <a:t>• Barang keranjang (cart)</a:t>
                      </a:r>
                    </a:p>
                    <a:p>
                      <a:pPr>
                        <a:defRPr sz="950">
                          <a:solidFill>
                            <a:srgbClr val="F8FAFC"/>
                          </a:solidFill>
                          <a:latin typeface="Arial"/>
                        </a:defRPr>
                      </a:pPr>
                      <a:r>
                        <a:t>• Alamat &amp; titik GPS</a:t>
                      </a:r>
                    </a:p>
                    <a:p>
                      <a:pPr>
                        <a:defRPr sz="950">
                          <a:solidFill>
                            <a:srgbClr val="F8FAFC"/>
                          </a:solidFill>
                          <a:latin typeface="Arial"/>
                        </a:defRPr>
                      </a:pPr>
                      <a:r>
                        <a:t>• Opsi bayar &amp; voucher</a:t>
                      </a:r>
                    </a:p>
                  </a:txBody>
                  <a:tcPr anchor="ctr">
                    <a:solidFill>
                      <a:srgbClr val="171F33"/>
                    </a:solidFill>
                  </a:tcPr>
                </a:tc>
                <a:tc>
                  <a:txBody>
                    <a:bodyPr wrap="square" lIns="73152" rIns="73152" tIns="54864" bIns="54864"/>
                    <a:lstStyle/>
                    <a:p>
                      <a:pPr>
                        <a:defRPr sz="950">
                          <a:solidFill>
                            <a:srgbClr val="F8FAFC"/>
                          </a:solidFill>
                          <a:latin typeface="Arial"/>
                        </a:defRPr>
                      </a:pPr>
                      <a:r>
                        <a:t>• Validasi 2FA / OTP</a:t>
                      </a:r>
                    </a:p>
                    <a:p>
                      <a:pPr>
                        <a:defRPr sz="950">
                          <a:solidFill>
                            <a:srgbClr val="F8FAFC"/>
                          </a:solidFill>
                          <a:latin typeface="Arial"/>
                        </a:defRPr>
                      </a:pPr>
                      <a:r>
                        <a:t>• Garansi Shopee (Escrow)</a:t>
                      </a:r>
                    </a:p>
                    <a:p>
                      <a:pPr>
                        <a:defRPr sz="950">
                          <a:solidFill>
                            <a:srgbClr val="F8FAFC"/>
                          </a:solidFill>
                          <a:latin typeface="Arial"/>
                        </a:defRPr>
                      </a:pPr>
                      <a:r>
                        <a:t>• Kunci kuota stok real-time</a:t>
                      </a:r>
                    </a:p>
                  </a:txBody>
                  <a:tcPr anchor="ctr">
                    <a:solidFill>
                      <a:srgbClr val="171F33"/>
                    </a:solidFill>
                  </a:tcPr>
                </a:tc>
                <a:tc>
                  <a:txBody>
                    <a:bodyPr wrap="square" lIns="73152" rIns="73152" tIns="54864" bIns="54864"/>
                    <a:lstStyle/>
                    <a:p>
                      <a:pPr>
                        <a:defRPr sz="950">
                          <a:solidFill>
                            <a:srgbClr val="F8FAFC"/>
                          </a:solidFill>
                          <a:latin typeface="Arial"/>
                        </a:defRPr>
                      </a:pPr>
                      <a:r>
                        <a:t>• Resi otomatis &amp; e-invoice</a:t>
                      </a:r>
                    </a:p>
                    <a:p>
                      <a:pPr>
                        <a:defRPr sz="950">
                          <a:solidFill>
                            <a:srgbClr val="F8FAFC"/>
                          </a:solidFill>
                          <a:latin typeface="Arial"/>
                        </a:defRPr>
                      </a:pPr>
                      <a:r>
                        <a:t>• Peta live tracking kurir</a:t>
                      </a:r>
                    </a:p>
                    <a:p>
                      <a:pPr>
                        <a:defRPr sz="950">
                          <a:solidFill>
                            <a:srgbClr val="F8FAFC"/>
                          </a:solidFill>
                          <a:latin typeface="Arial"/>
                        </a:defRPr>
                      </a:pPr>
                      <a:r>
                        <a:t>• Notifikasi status paket</a:t>
                      </a:r>
                    </a:p>
                  </a:txBody>
                  <a:tcPr anchor="ctr">
                    <a:solidFill>
                      <a:srgbClr val="171F33"/>
                    </a:solidFill>
                  </a:tcPr>
                </a:tc>
                <a:tc>
                  <a:txBody>
                    <a:bodyPr wrap="square" lIns="73152" rIns="73152" tIns="54864" bIns="54864"/>
                    <a:lstStyle/>
                    <a:p>
                      <a:pPr>
                        <a:defRPr sz="950" b="1">
                          <a:solidFill>
                            <a:srgbClr val="EE4D2D"/>
                          </a:solidFill>
                          <a:latin typeface="Arial"/>
                        </a:defRPr>
                      </a:pPr>
                      <a:r>
                        <a:t>Checkout &amp;</a:t>
                      </a:r>
                    </a:p>
                    <a:p>
                      <a:pPr>
                        <a:defRPr sz="950" b="1">
                          <a:solidFill>
                            <a:srgbClr val="EE4D2D"/>
                          </a:solidFill>
                          <a:latin typeface="Arial"/>
                        </a:defRPr>
                      </a:pPr>
                      <a:r>
                        <a:t>SPX Tracking</a:t>
                      </a:r>
                    </a:p>
                  </a:txBody>
                  <a:tcPr anchor="ctr">
                    <a:solidFill>
                      <a:srgbClr val="171F33"/>
                    </a:solidFill>
                  </a:tcPr>
                </a:tc>
              </a:tr>
              <a:tr h="969264">
                <a:tc>
                  <a:txBody>
                    <a:bodyPr wrap="square" lIns="73152" rIns="73152" tIns="54864" bIns="54864"/>
                    <a:lstStyle/>
                    <a:p>
                      <a:pPr>
                        <a:defRPr sz="950" b="1">
                          <a:solidFill>
                            <a:srgbClr val="F8FAFC"/>
                          </a:solidFill>
                          <a:latin typeface="Arial"/>
                        </a:defRPr>
                      </a:pPr>
                      <a:r>
                        <a:t>2. Sisi Penjual</a:t>
                      </a:r>
                    </a:p>
                    <a:p>
                      <a:pPr>
                        <a:defRPr sz="950" b="1">
                          <a:solidFill>
                            <a:srgbClr val="F8FAFC"/>
                          </a:solidFill>
                          <a:latin typeface="Arial"/>
                        </a:defRPr>
                      </a:pPr>
                      <a:r>
                        <a:t>(Merchant)</a:t>
                      </a:r>
                    </a:p>
                  </a:txBody>
                  <a:tcPr anchor="ctr">
                    <a:solidFill>
                      <a:srgbClr val="1E2943"/>
                    </a:solidFill>
                  </a:tcPr>
                </a:tc>
                <a:tc>
                  <a:txBody>
                    <a:bodyPr wrap="square" lIns="73152" rIns="73152" tIns="54864" bIns="54864"/>
                    <a:lstStyle/>
                    <a:p>
                      <a:pPr>
                        <a:defRPr sz="950">
                          <a:solidFill>
                            <a:srgbClr val="F8FAFC"/>
                          </a:solidFill>
                          <a:latin typeface="Arial"/>
                        </a:defRPr>
                      </a:pPr>
                      <a:r>
                        <a:t>• Master SKU &amp; stok riil</a:t>
                      </a:r>
                    </a:p>
                    <a:p>
                      <a:pPr>
                        <a:defRPr sz="950">
                          <a:solidFill>
                            <a:srgbClr val="F8FAFC"/>
                          </a:solidFill>
                          <a:latin typeface="Arial"/>
                        </a:defRPr>
                      </a:pPr>
                      <a:r>
                        <a:t>• Foto produk &amp; harga</a:t>
                      </a:r>
                    </a:p>
                    <a:p>
                      <a:pPr>
                        <a:defRPr sz="950">
                          <a:solidFill>
                            <a:srgbClr val="F8FAFC"/>
                          </a:solidFill>
                          <a:latin typeface="Arial"/>
                        </a:defRPr>
                      </a:pPr>
                      <a:r>
                        <a:t>• Balasan chat pembeli</a:t>
                      </a:r>
                    </a:p>
                  </a:txBody>
                  <a:tcPr anchor="ctr">
                    <a:solidFill>
                      <a:srgbClr val="1E2943"/>
                    </a:solidFill>
                  </a:tcPr>
                </a:tc>
                <a:tc>
                  <a:txBody>
                    <a:bodyPr wrap="square" lIns="73152" rIns="73152" tIns="54864" bIns="54864"/>
                    <a:lstStyle/>
                    <a:p>
                      <a:pPr>
                        <a:defRPr sz="950">
                          <a:solidFill>
                            <a:srgbClr val="F8FAFC"/>
                          </a:solidFill>
                          <a:latin typeface="Arial"/>
                        </a:defRPr>
                      </a:pPr>
                      <a:r>
                        <a:t>• Index algoritma pencarian</a:t>
                      </a:r>
                    </a:p>
                    <a:p>
                      <a:pPr>
                        <a:defRPr sz="950">
                          <a:solidFill>
                            <a:srgbClr val="F8FAFC"/>
                          </a:solidFill>
                          <a:latin typeface="Arial"/>
                        </a:defRPr>
                      </a:pPr>
                      <a:r>
                        <a:t>• Potongan komisi Shopee</a:t>
                      </a:r>
                    </a:p>
                    <a:p>
                      <a:pPr>
                        <a:defRPr sz="950">
                          <a:solidFill>
                            <a:srgbClr val="F8FAFC"/>
                          </a:solidFill>
                          <a:latin typeface="Arial"/>
                        </a:defRPr>
                      </a:pPr>
                      <a:r>
                        <a:t>• Poin penalti keterlambatan</a:t>
                      </a:r>
                    </a:p>
                  </a:txBody>
                  <a:tcPr anchor="ctr">
                    <a:solidFill>
                      <a:srgbClr val="1E2943"/>
                    </a:solidFill>
                  </a:tcPr>
                </a:tc>
                <a:tc>
                  <a:txBody>
                    <a:bodyPr wrap="square" lIns="73152" rIns="73152" tIns="54864" bIns="54864"/>
                    <a:lstStyle/>
                    <a:p>
                      <a:pPr>
                        <a:defRPr sz="950">
                          <a:solidFill>
                            <a:srgbClr val="F8FAFC"/>
                          </a:solidFill>
                          <a:latin typeface="Arial"/>
                        </a:defRPr>
                      </a:pPr>
                      <a:r>
                        <a:t>• PDF Shipping Label resi</a:t>
                      </a:r>
                    </a:p>
                    <a:p>
                      <a:pPr>
                        <a:defRPr sz="950">
                          <a:solidFill>
                            <a:srgbClr val="F8FAFC"/>
                          </a:solidFill>
                          <a:latin typeface="Arial"/>
                        </a:defRPr>
                      </a:pPr>
                      <a:r>
                        <a:t>• Pencairan Saldo Penjual</a:t>
                      </a:r>
                    </a:p>
                    <a:p>
                      <a:pPr>
                        <a:defRPr sz="950">
                          <a:solidFill>
                            <a:srgbClr val="F8FAFC"/>
                          </a:solidFill>
                          <a:latin typeface="Arial"/>
                        </a:defRPr>
                      </a:pPr>
                      <a:r>
                        <a:t>• Laporan omzet &amp; performa</a:t>
                      </a:r>
                    </a:p>
                  </a:txBody>
                  <a:tcPr anchor="ctr">
                    <a:solidFill>
                      <a:srgbClr val="1E2943"/>
                    </a:solidFill>
                  </a:tcPr>
                </a:tc>
                <a:tc>
                  <a:txBody>
                    <a:bodyPr wrap="square" lIns="73152" rIns="73152" tIns="54864" bIns="54864"/>
                    <a:lstStyle/>
                    <a:p>
                      <a:pPr>
                        <a:defRPr sz="950" b="1">
                          <a:solidFill>
                            <a:srgbClr val="EE4D2D"/>
                          </a:solidFill>
                          <a:latin typeface="Arial"/>
                        </a:defRPr>
                      </a:pPr>
                      <a:r>
                        <a:t>Shopee Seller</a:t>
                      </a:r>
                    </a:p>
                    <a:p>
                      <a:pPr>
                        <a:defRPr sz="950" b="1">
                          <a:solidFill>
                            <a:srgbClr val="EE4D2D"/>
                          </a:solidFill>
                          <a:latin typeface="Arial"/>
                        </a:defRPr>
                      </a:pPr>
                      <a:r>
                        <a:t>Centre</a:t>
                      </a:r>
                    </a:p>
                  </a:txBody>
                  <a:tcPr anchor="ctr">
                    <a:solidFill>
                      <a:srgbClr val="1E2943"/>
                    </a:solidFill>
                  </a:tcPr>
                </a:tc>
              </a:tr>
              <a:tr h="969264">
                <a:tc>
                  <a:txBody>
                    <a:bodyPr wrap="square" lIns="73152" rIns="73152" tIns="54864" bIns="54864"/>
                    <a:lstStyle/>
                    <a:p>
                      <a:pPr>
                        <a:defRPr sz="950" b="1">
                          <a:solidFill>
                            <a:srgbClr val="F8FAFC"/>
                          </a:solidFill>
                          <a:latin typeface="Arial"/>
                        </a:defRPr>
                      </a:pPr>
                      <a:r>
                        <a:t>3. Sisi FinTech</a:t>
                      </a:r>
                    </a:p>
                    <a:p>
                      <a:pPr>
                        <a:defRPr sz="950" b="1">
                          <a:solidFill>
                            <a:srgbClr val="F8FAFC"/>
                          </a:solidFill>
                          <a:latin typeface="Arial"/>
                        </a:defRPr>
                      </a:pPr>
                      <a:r>
                        <a:t>(SPayLater)</a:t>
                      </a:r>
                    </a:p>
                  </a:txBody>
                  <a:tcPr anchor="ctr">
                    <a:solidFill>
                      <a:srgbClr val="171F33"/>
                    </a:solidFill>
                  </a:tcPr>
                </a:tc>
                <a:tc>
                  <a:txBody>
                    <a:bodyPr wrap="square" lIns="73152" rIns="73152" tIns="54864" bIns="54864"/>
                    <a:lstStyle/>
                    <a:p>
                      <a:pPr>
                        <a:defRPr sz="950">
                          <a:solidFill>
                            <a:srgbClr val="F8FAFC"/>
                          </a:solidFill>
                          <a:latin typeface="Arial"/>
                        </a:defRPr>
                      </a:pPr>
                      <a:r>
                        <a:t>• Foto e-KTP &amp; selfie wajah</a:t>
                      </a:r>
                    </a:p>
                    <a:p>
                      <a:pPr>
                        <a:defRPr sz="950">
                          <a:solidFill>
                            <a:srgbClr val="F8FAFC"/>
                          </a:solidFill>
                          <a:latin typeface="Arial"/>
                        </a:defRPr>
                      </a:pPr>
                      <a:r>
                        <a:t>• Kontak darurat &amp; gaji</a:t>
                      </a:r>
                    </a:p>
                    <a:p>
                      <a:pPr>
                        <a:defRPr sz="950">
                          <a:solidFill>
                            <a:srgbClr val="F8FAFC"/>
                          </a:solidFill>
                          <a:latin typeface="Arial"/>
                        </a:defRPr>
                      </a:pPr>
                      <a:r>
                        <a:t>• Pengajuan limit kredit</a:t>
                      </a:r>
                    </a:p>
                  </a:txBody>
                  <a:tcPr anchor="ctr">
                    <a:solidFill>
                      <a:srgbClr val="171F33"/>
                    </a:solidFill>
                  </a:tcPr>
                </a:tc>
                <a:tc>
                  <a:txBody>
                    <a:bodyPr wrap="square" lIns="73152" rIns="73152" tIns="54864" bIns="54864"/>
                    <a:lstStyle/>
                    <a:p>
                      <a:pPr>
                        <a:defRPr sz="950">
                          <a:solidFill>
                            <a:srgbClr val="F8FAFC"/>
                          </a:solidFill>
                          <a:latin typeface="Arial"/>
                        </a:defRPr>
                      </a:pPr>
                      <a:r>
                        <a:t>• AI Credit Scoring engine</a:t>
                      </a:r>
                    </a:p>
                    <a:p>
                      <a:pPr>
                        <a:defRPr sz="950">
                          <a:solidFill>
                            <a:srgbClr val="F8FAFC"/>
                          </a:solidFill>
                          <a:latin typeface="Arial"/>
                        </a:defRPr>
                      </a:pPr>
                      <a:r>
                        <a:t>• Pengecekan histori SLIK OJK</a:t>
                      </a:r>
                    </a:p>
                    <a:p>
                      <a:pPr>
                        <a:defRPr sz="950">
                          <a:solidFill>
                            <a:srgbClr val="F8FAFC"/>
                          </a:solidFill>
                          <a:latin typeface="Arial"/>
                        </a:defRPr>
                      </a:pPr>
                      <a:r>
                        <a:t>• Deteksi anti-fraud &amp; bunga</a:t>
                      </a:r>
                    </a:p>
                  </a:txBody>
                  <a:tcPr anchor="ctr">
                    <a:solidFill>
                      <a:srgbClr val="171F33"/>
                    </a:solidFill>
                  </a:tcPr>
                </a:tc>
                <a:tc>
                  <a:txBody>
                    <a:bodyPr wrap="square" lIns="73152" rIns="73152" tIns="54864" bIns="54864"/>
                    <a:lstStyle/>
                    <a:p>
                      <a:pPr>
                        <a:defRPr sz="950">
                          <a:solidFill>
                            <a:srgbClr val="F8FAFC"/>
                          </a:solidFill>
                          <a:latin typeface="Arial"/>
                        </a:defRPr>
                      </a:pPr>
                      <a:r>
                        <a:t>• Saldo limit cicilan aktif</a:t>
                      </a:r>
                    </a:p>
                    <a:p>
                      <a:pPr>
                        <a:defRPr sz="950">
                          <a:solidFill>
                            <a:srgbClr val="F8FAFC"/>
                          </a:solidFill>
                          <a:latin typeface="Arial"/>
                        </a:defRPr>
                      </a:pPr>
                      <a:r>
                        <a:t>• Persetujuan transaksi</a:t>
                      </a:r>
                    </a:p>
                    <a:p>
                      <a:pPr>
                        <a:defRPr sz="950">
                          <a:solidFill>
                            <a:srgbClr val="F8FAFC"/>
                          </a:solidFill>
                          <a:latin typeface="Arial"/>
                        </a:defRPr>
                      </a:pPr>
                      <a:r>
                        <a:t>• Billing statement bulanan</a:t>
                      </a:r>
                    </a:p>
                  </a:txBody>
                  <a:tcPr anchor="ctr">
                    <a:solidFill>
                      <a:srgbClr val="171F33"/>
                    </a:solidFill>
                  </a:tcPr>
                </a:tc>
                <a:tc>
                  <a:txBody>
                    <a:bodyPr wrap="square" lIns="73152" rIns="73152" tIns="54864" bIns="54864"/>
                    <a:lstStyle/>
                    <a:p>
                      <a:pPr>
                        <a:defRPr sz="950" b="1">
                          <a:solidFill>
                            <a:srgbClr val="EE4D2D"/>
                          </a:solidFill>
                          <a:latin typeface="Arial"/>
                        </a:defRPr>
                      </a:pPr>
                      <a:r>
                        <a:t>SPayLater &amp;</a:t>
                      </a:r>
                    </a:p>
                    <a:p>
                      <a:pPr>
                        <a:defRPr sz="950" b="1">
                          <a:solidFill>
                            <a:srgbClr val="EE4D2D"/>
                          </a:solidFill>
                          <a:latin typeface="Arial"/>
                        </a:defRPr>
                      </a:pPr>
                      <a:r>
                        <a:t>ShopeePay</a:t>
                      </a:r>
                    </a:p>
                  </a:txBody>
                  <a:tcPr anchor="ctr">
                    <a:solidFill>
                      <a:srgbClr val="171F33"/>
                    </a:solidFill>
                  </a:tcPr>
                </a:tc>
              </a:tr>
              <a:tr h="969264">
                <a:tc>
                  <a:txBody>
                    <a:bodyPr wrap="square" lIns="73152" rIns="73152" tIns="54864" bIns="54864"/>
                    <a:lstStyle/>
                    <a:p>
                      <a:pPr>
                        <a:defRPr sz="950" b="1">
                          <a:solidFill>
                            <a:srgbClr val="F8FAFC"/>
                          </a:solidFill>
                          <a:latin typeface="Arial"/>
                        </a:defRPr>
                      </a:pPr>
                      <a:r>
                        <a:t>4. Sisi Logistik</a:t>
                      </a:r>
                    </a:p>
                    <a:p>
                      <a:pPr>
                        <a:defRPr sz="950" b="1">
                          <a:solidFill>
                            <a:srgbClr val="F8FAFC"/>
                          </a:solidFill>
                          <a:latin typeface="Arial"/>
                        </a:defRPr>
                      </a:pPr>
                      <a:r>
                        <a:t>(SPX)</a:t>
                      </a:r>
                    </a:p>
                  </a:txBody>
                  <a:tcPr anchor="ctr">
                    <a:solidFill>
                      <a:srgbClr val="1E2943"/>
                    </a:solidFill>
                  </a:tcPr>
                </a:tc>
                <a:tc>
                  <a:txBody>
                    <a:bodyPr wrap="square" lIns="73152" rIns="73152" tIns="54864" bIns="54864"/>
                    <a:lstStyle/>
                    <a:p>
                      <a:pPr>
                        <a:defRPr sz="950">
                          <a:solidFill>
                            <a:srgbClr val="F8FAFC"/>
                          </a:solidFill>
                          <a:latin typeface="Arial"/>
                        </a:defRPr>
                      </a:pPr>
                      <a:r>
                        <a:t>• Scan barcode resi di hub</a:t>
                      </a:r>
                    </a:p>
                    <a:p>
                      <a:pPr>
                        <a:defRPr sz="950">
                          <a:solidFill>
                            <a:srgbClr val="F8FAFC"/>
                          </a:solidFill>
                          <a:latin typeface="Arial"/>
                        </a:defRPr>
                      </a:pPr>
                      <a:r>
                        <a:t>• GPS kurir pengantar</a:t>
                      </a:r>
                    </a:p>
                    <a:p>
                      <a:pPr>
                        <a:defRPr sz="950">
                          <a:solidFill>
                            <a:srgbClr val="F8FAFC"/>
                          </a:solidFill>
                          <a:latin typeface="Arial"/>
                        </a:defRPr>
                      </a:pPr>
                      <a:r>
                        <a:t>• Foto penerimaan paket</a:t>
                      </a:r>
                    </a:p>
                  </a:txBody>
                  <a:tcPr anchor="ctr">
                    <a:solidFill>
                      <a:srgbClr val="1E2943"/>
                    </a:solidFill>
                  </a:tcPr>
                </a:tc>
                <a:tc>
                  <a:txBody>
                    <a:bodyPr wrap="square" lIns="73152" rIns="73152" tIns="54864" bIns="54864"/>
                    <a:lstStyle/>
                    <a:p>
                      <a:pPr>
                        <a:defRPr sz="950">
                          <a:solidFill>
                            <a:srgbClr val="F8FAFC"/>
                          </a:solidFill>
                          <a:latin typeface="Arial"/>
                        </a:defRPr>
                      </a:pPr>
                      <a:r>
                        <a:t>• Algoritma optimasi rute</a:t>
                      </a:r>
                    </a:p>
                    <a:p>
                      <a:pPr>
                        <a:defRPr sz="950">
                          <a:solidFill>
                            <a:srgbClr val="F8FAFC"/>
                          </a:solidFill>
                          <a:latin typeface="Arial"/>
                        </a:defRPr>
                      </a:pPr>
                      <a:r>
                        <a:t>• Klasterisasi wilayah antar</a:t>
                      </a:r>
                    </a:p>
                    <a:p>
                      <a:pPr>
                        <a:defRPr sz="950">
                          <a:solidFill>
                            <a:srgbClr val="F8FAFC"/>
                          </a:solidFill>
                          <a:latin typeface="Arial"/>
                        </a:defRPr>
                      </a:pPr>
                      <a:r>
                        <a:t>• Estimasi waktu tiba (ETA)</a:t>
                      </a:r>
                    </a:p>
                  </a:txBody>
                  <a:tcPr anchor="ctr">
                    <a:solidFill>
                      <a:srgbClr val="1E2943"/>
                    </a:solidFill>
                  </a:tcPr>
                </a:tc>
                <a:tc>
                  <a:txBody>
                    <a:bodyPr wrap="square" lIns="73152" rIns="73152" tIns="54864" bIns="54864"/>
                    <a:lstStyle/>
                    <a:p>
                      <a:pPr>
                        <a:defRPr sz="950">
                          <a:solidFill>
                            <a:srgbClr val="F8FAFC"/>
                          </a:solidFill>
                          <a:latin typeface="Arial"/>
                        </a:defRPr>
                      </a:pPr>
                      <a:r>
                        <a:t>• Foto bukti kirim (POD)</a:t>
                      </a:r>
                    </a:p>
                    <a:p>
                      <a:pPr>
                        <a:defRPr sz="950">
                          <a:solidFill>
                            <a:srgbClr val="F8FAFC"/>
                          </a:solidFill>
                          <a:latin typeface="Arial"/>
                        </a:defRPr>
                      </a:pPr>
                      <a:r>
                        <a:t>• Status paket "Terkirim"</a:t>
                      </a:r>
                    </a:p>
                    <a:p>
                      <a:pPr>
                        <a:defRPr sz="950">
                          <a:solidFill>
                            <a:srgbClr val="F8FAFC"/>
                          </a:solidFill>
                          <a:latin typeface="Arial"/>
                        </a:defRPr>
                      </a:pPr>
                      <a:r>
                        <a:t>• Update riwayat lacak resi</a:t>
                      </a:r>
                    </a:p>
                  </a:txBody>
                  <a:tcPr anchor="ctr">
                    <a:solidFill>
                      <a:srgbClr val="1E2943"/>
                    </a:solidFill>
                  </a:tcPr>
                </a:tc>
                <a:tc>
                  <a:txBody>
                    <a:bodyPr wrap="square" lIns="73152" rIns="73152" tIns="54864" bIns="54864"/>
                    <a:lstStyle/>
                    <a:p>
                      <a:pPr>
                        <a:defRPr sz="950" b="1">
                          <a:solidFill>
                            <a:srgbClr val="EE4D2D"/>
                          </a:solidFill>
                          <a:latin typeface="Arial"/>
                        </a:defRPr>
                      </a:pPr>
                      <a:r>
                        <a:t>Shopee Xpress</a:t>
                      </a:r>
                    </a:p>
                    <a:p>
                      <a:pPr>
                        <a:defRPr sz="950" b="1">
                          <a:solidFill>
                            <a:srgbClr val="EE4D2D"/>
                          </a:solidFill>
                          <a:latin typeface="Arial"/>
                        </a:defRPr>
                      </a:pPr>
                      <a:r>
                        <a:t>Driver</a:t>
                      </a:r>
                    </a:p>
                  </a:txBody>
                  <a:tcPr anchor="ctr">
                    <a:solidFill>
                      <a:srgbClr val="1E2943"/>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l">
              <a:spcAft>
                <a:spcPts val="400"/>
              </a:spcAft>
              <a:defRPr sz="1100" b="1">
                <a:solidFill>
                  <a:srgbClr val="EE4D2D"/>
                </a:solidFill>
                <a:latin typeface="Arial"/>
              </a:defRPr>
            </a:pPr>
            <a:r>
              <a:t>LAMPIRAN VISUAL · PEMBUKTIAN ALUR IPO</a:t>
            </a:r>
          </a:p>
          <a:p>
            <a:pPr algn="l">
              <a:defRPr sz="2200" b="1">
                <a:solidFill>
                  <a:srgbClr val="F8FAFC"/>
                </a:solidFill>
                <a:latin typeface="Arial"/>
              </a:defRPr>
            </a:pPr>
            <a:r>
              <a:t>Tangkapan Layar Nyata Alur IPO Belanja di Shopee</a:t>
            </a:r>
          </a:p>
        </p:txBody>
      </p:sp>
      <p:sp>
        <p:nvSpPr>
          <p:cNvPr id="3" name="Rounded Rectangle 2"/>
          <p:cNvSpPr/>
          <p:nvPr/>
        </p:nvSpPr>
        <p:spPr>
          <a:xfrm>
            <a:off x="731520" y="1463040"/>
            <a:ext cx="3429000" cy="4846320"/>
          </a:xfrm>
          <a:prstGeom prst="roundRect">
            <a:avLst/>
          </a:prstGeom>
          <a:solidFill>
            <a:srgbClr val="171F33"/>
          </a:solidFill>
          <a:ln w="12700">
            <a:solidFill>
              <a:srgbClr val="2E3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hopee_input.jpg"/>
          <p:cNvPicPr>
            <a:picLocks noChangeAspect="1"/>
          </p:cNvPicPr>
          <p:nvPr/>
        </p:nvPicPr>
        <p:blipFill>
          <a:blip r:embed="rId2"/>
          <a:stretch>
            <a:fillRect/>
          </a:stretch>
        </p:blipFill>
        <p:spPr>
          <a:xfrm>
            <a:off x="896112" y="1645920"/>
            <a:ext cx="3099816" cy="2377440"/>
          </a:xfrm>
          <a:prstGeom prst="rect">
            <a:avLst/>
          </a:prstGeom>
        </p:spPr>
      </p:pic>
      <p:sp>
        <p:nvSpPr>
          <p:cNvPr id="5" name="Rounded Rectangle 4"/>
          <p:cNvSpPr/>
          <p:nvPr/>
        </p:nvSpPr>
        <p:spPr>
          <a:xfrm>
            <a:off x="960120" y="1737360"/>
            <a:ext cx="1097280" cy="320040"/>
          </a:xfrm>
          <a:prstGeom prst="roundRect">
            <a:avLst/>
          </a:prstGeom>
          <a:solidFill>
            <a:srgbClr val="EE4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1. INPUT</a:t>
            </a:r>
          </a:p>
        </p:txBody>
      </p:sp>
      <p:sp>
        <p:nvSpPr>
          <p:cNvPr id="6" name="TextBox 5"/>
          <p:cNvSpPr txBox="1"/>
          <p:nvPr/>
        </p:nvSpPr>
        <p:spPr>
          <a:xfrm>
            <a:off x="896112" y="4160520"/>
            <a:ext cx="3099816" cy="2011680"/>
          </a:xfrm>
          <a:prstGeom prst="rect">
            <a:avLst/>
          </a:prstGeom>
          <a:noFill/>
        </p:spPr>
        <p:txBody>
          <a:bodyPr wrap="square" lIns="0" tIns="0" rIns="0" bIns="0">
            <a:spAutoFit/>
          </a:bodyPr>
          <a:lstStyle/>
          <a:p>
            <a:pPr>
              <a:spcAft>
                <a:spcPts val="800"/>
              </a:spcAft>
              <a:defRPr b="1" sz="1400">
                <a:solidFill>
                  <a:srgbClr val="F8FAFC"/>
                </a:solidFill>
                <a:latin typeface="Arial"/>
              </a:defRPr>
            </a:pPr>
            <a:r>
              <a:t>Halaman Checkout &amp; Cart</a:t>
            </a:r>
          </a:p>
          <a:p>
            <a:pPr>
              <a:defRPr sz="1100">
                <a:solidFill>
                  <a:srgbClr val="9AA4B2"/>
                </a:solidFill>
                <a:latin typeface="Arial"/>
              </a:defRPr>
            </a:pPr>
            <a:r>
              <a:t>Input data barang di keranjang belanja, pemilihan kupon voucher diskon, dan titik koordinat GPS alamat pengiriman.</a:t>
            </a:r>
          </a:p>
        </p:txBody>
      </p:sp>
      <p:sp>
        <p:nvSpPr>
          <p:cNvPr id="7" name="Rounded Rectangle 6"/>
          <p:cNvSpPr/>
          <p:nvPr/>
        </p:nvSpPr>
        <p:spPr>
          <a:xfrm>
            <a:off x="4379976" y="1463040"/>
            <a:ext cx="3429000" cy="4846320"/>
          </a:xfrm>
          <a:prstGeom prst="roundRect">
            <a:avLst/>
          </a:prstGeom>
          <a:solidFill>
            <a:srgbClr val="171F33"/>
          </a:solidFill>
          <a:ln w="12700">
            <a:solidFill>
              <a:srgbClr val="2E3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hopee_process.jpg"/>
          <p:cNvPicPr>
            <a:picLocks noChangeAspect="1"/>
          </p:cNvPicPr>
          <p:nvPr/>
        </p:nvPicPr>
        <p:blipFill>
          <a:blip r:embed="rId3"/>
          <a:stretch>
            <a:fillRect/>
          </a:stretch>
        </p:blipFill>
        <p:spPr>
          <a:xfrm>
            <a:off x="4544568" y="1645920"/>
            <a:ext cx="3099816" cy="2377440"/>
          </a:xfrm>
          <a:prstGeom prst="rect">
            <a:avLst/>
          </a:prstGeom>
        </p:spPr>
      </p:pic>
      <p:sp>
        <p:nvSpPr>
          <p:cNvPr id="9" name="Rounded Rectangle 8"/>
          <p:cNvSpPr/>
          <p:nvPr/>
        </p:nvSpPr>
        <p:spPr>
          <a:xfrm>
            <a:off x="4608576" y="1737360"/>
            <a:ext cx="1097280" cy="32004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2. PROSES</a:t>
            </a:r>
          </a:p>
        </p:txBody>
      </p:sp>
      <p:sp>
        <p:nvSpPr>
          <p:cNvPr id="10" name="TextBox 9"/>
          <p:cNvSpPr txBox="1"/>
          <p:nvPr/>
        </p:nvSpPr>
        <p:spPr>
          <a:xfrm>
            <a:off x="4544568" y="4160520"/>
            <a:ext cx="3099816" cy="2011680"/>
          </a:xfrm>
          <a:prstGeom prst="rect">
            <a:avLst/>
          </a:prstGeom>
          <a:noFill/>
        </p:spPr>
        <p:txBody>
          <a:bodyPr wrap="square" lIns="0" tIns="0" rIns="0" bIns="0">
            <a:spAutoFit/>
          </a:bodyPr>
          <a:lstStyle/>
          <a:p>
            <a:pPr>
              <a:spcAft>
                <a:spcPts val="800"/>
              </a:spcAft>
              <a:defRPr b="1" sz="1400">
                <a:solidFill>
                  <a:srgbClr val="F8FAFC"/>
                </a:solidFill>
                <a:latin typeface="Arial"/>
              </a:defRPr>
            </a:pPr>
            <a:r>
              <a:t>Garansi Shopee (Escrow Lock)</a:t>
            </a:r>
          </a:p>
          <a:p>
            <a:pPr>
              <a:defRPr sz="1100">
                <a:solidFill>
                  <a:srgbClr val="9AA4B2"/>
                </a:solidFill>
                <a:latin typeface="Arial"/>
              </a:defRPr>
            </a:pPr>
            <a:r>
              <a:t>Pemrosesan rekening bersama penahan dana aman, verifikasi keamanan PIN/OTP, dan penguncian stok toko real-time.</a:t>
            </a:r>
          </a:p>
        </p:txBody>
      </p:sp>
      <p:sp>
        <p:nvSpPr>
          <p:cNvPr id="11" name="Rounded Rectangle 10"/>
          <p:cNvSpPr/>
          <p:nvPr/>
        </p:nvSpPr>
        <p:spPr>
          <a:xfrm>
            <a:off x="8028432" y="1463040"/>
            <a:ext cx="3429000" cy="4846320"/>
          </a:xfrm>
          <a:prstGeom prst="roundRect">
            <a:avLst/>
          </a:prstGeom>
          <a:solidFill>
            <a:srgbClr val="171F33"/>
          </a:solidFill>
          <a:ln w="12700">
            <a:solidFill>
              <a:srgbClr val="2E3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hopee_output.jpg"/>
          <p:cNvPicPr>
            <a:picLocks noChangeAspect="1"/>
          </p:cNvPicPr>
          <p:nvPr/>
        </p:nvPicPr>
        <p:blipFill>
          <a:blip r:embed="rId4"/>
          <a:stretch>
            <a:fillRect/>
          </a:stretch>
        </p:blipFill>
        <p:spPr>
          <a:xfrm>
            <a:off x="8193024" y="1645920"/>
            <a:ext cx="3099816" cy="2377440"/>
          </a:xfrm>
          <a:prstGeom prst="rect">
            <a:avLst/>
          </a:prstGeom>
        </p:spPr>
      </p:pic>
      <p:sp>
        <p:nvSpPr>
          <p:cNvPr id="13" name="Rounded Rectangle 12"/>
          <p:cNvSpPr/>
          <p:nvPr/>
        </p:nvSpPr>
        <p:spPr>
          <a:xfrm>
            <a:off x="8257032" y="1737360"/>
            <a:ext cx="1097280" cy="3200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3. OUTPUT</a:t>
            </a:r>
          </a:p>
        </p:txBody>
      </p:sp>
      <p:sp>
        <p:nvSpPr>
          <p:cNvPr id="14" name="TextBox 13"/>
          <p:cNvSpPr txBox="1"/>
          <p:nvPr/>
        </p:nvSpPr>
        <p:spPr>
          <a:xfrm>
            <a:off x="8193024" y="4160520"/>
            <a:ext cx="3099816" cy="2011680"/>
          </a:xfrm>
          <a:prstGeom prst="rect">
            <a:avLst/>
          </a:prstGeom>
          <a:noFill/>
        </p:spPr>
        <p:txBody>
          <a:bodyPr wrap="square" lIns="0" tIns="0" rIns="0" bIns="0">
            <a:spAutoFit/>
          </a:bodyPr>
          <a:lstStyle/>
          <a:p>
            <a:pPr>
              <a:spcAft>
                <a:spcPts val="800"/>
              </a:spcAft>
              <a:defRPr b="1" sz="1400">
                <a:solidFill>
                  <a:srgbClr val="F8FAFC"/>
                </a:solidFill>
                <a:latin typeface="Arial"/>
              </a:defRPr>
            </a:pPr>
            <a:r>
              <a:t>Live Tracking Peta &amp; Resi</a:t>
            </a:r>
          </a:p>
          <a:p>
            <a:pPr>
              <a:defRPr sz="1100">
                <a:solidFill>
                  <a:srgbClr val="9AA4B2"/>
                </a:solidFill>
                <a:latin typeface="Arial"/>
              </a:defRPr>
            </a:pPr>
            <a:r>
              <a:t>Keluaran nomor resi pengiriman otomatis, dokumen e-invoice, serta pergerakan kurir SPX secara langsung di peta GPS.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l">
              <a:spcAft>
                <a:spcPts val="400"/>
              </a:spcAft>
              <a:defRPr sz="1100" b="1">
                <a:solidFill>
                  <a:srgbClr val="EE4D2D"/>
                </a:solidFill>
                <a:latin typeface="Arial"/>
              </a:defRPr>
            </a:pPr>
            <a:r>
              <a:t>MATERI TEORI PERKULIAHAN · SISTEM INFORMASI</a:t>
            </a:r>
          </a:p>
          <a:p>
            <a:pPr algn="l">
              <a:defRPr sz="2200" b="1">
                <a:solidFill>
                  <a:srgbClr val="F8FAFC"/>
                </a:solidFill>
                <a:latin typeface="Arial"/>
              </a:defRPr>
            </a:pPr>
            <a:r>
              <a:t>Enam Komponen Sistem Informasi: Teori &amp; Studi Kasus Shopee</a:t>
            </a:r>
          </a:p>
        </p:txBody>
      </p:sp>
      <p:sp>
        <p:nvSpPr>
          <p:cNvPr id="3" name="Rounded Rectangle 2"/>
          <p:cNvSpPr/>
          <p:nvPr/>
        </p:nvSpPr>
        <p:spPr>
          <a:xfrm>
            <a:off x="731520" y="1463040"/>
            <a:ext cx="3474720" cy="4846320"/>
          </a:xfrm>
          <a:prstGeom prst="roundRect">
            <a:avLst/>
          </a:prstGeom>
          <a:solidFill>
            <a:srgbClr val="171F33"/>
          </a:solidFill>
          <a:ln w="12700">
            <a:solidFill>
              <a:srgbClr val="2E3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nam_komponen_si.jpeg"/>
          <p:cNvPicPr>
            <a:picLocks noChangeAspect="1"/>
          </p:cNvPicPr>
          <p:nvPr/>
        </p:nvPicPr>
        <p:blipFill>
          <a:blip r:embed="rId2"/>
          <a:stretch>
            <a:fillRect/>
          </a:stretch>
        </p:blipFill>
        <p:spPr>
          <a:xfrm>
            <a:off x="914400" y="1645920"/>
            <a:ext cx="3108960" cy="2148840"/>
          </a:xfrm>
          <a:prstGeom prst="rect">
            <a:avLst/>
          </a:prstGeom>
        </p:spPr>
      </p:pic>
      <p:sp>
        <p:nvSpPr>
          <p:cNvPr id="5" name="TextBox 4"/>
          <p:cNvSpPr txBox="1"/>
          <p:nvPr/>
        </p:nvSpPr>
        <p:spPr>
          <a:xfrm>
            <a:off x="914400" y="3886200"/>
            <a:ext cx="3108960" cy="320040"/>
          </a:xfrm>
          <a:prstGeom prst="rect">
            <a:avLst/>
          </a:prstGeom>
          <a:noFill/>
        </p:spPr>
        <p:txBody>
          <a:bodyPr wrap="none" lIns="0" tIns="0" rIns="0" bIns="0">
            <a:spAutoFit/>
          </a:bodyPr>
          <a:lstStyle/>
          <a:p>
            <a:pPr algn="ctr">
              <a:defRPr sz="1000" b="1">
                <a:solidFill>
                  <a:srgbClr val="EE4D2D"/>
                </a:solidFill>
                <a:latin typeface="Arial"/>
              </a:defRPr>
            </a:pPr>
            <a:r>
              <a:t>Dokumentasi Slide Kuliah (SIAKAD)</a:t>
            </a:r>
          </a:p>
        </p:txBody>
      </p:sp>
      <p:sp>
        <p:nvSpPr>
          <p:cNvPr id="6" name="Rounded Rectangle 5"/>
          <p:cNvSpPr/>
          <p:nvPr/>
        </p:nvSpPr>
        <p:spPr>
          <a:xfrm>
            <a:off x="914400" y="4297680"/>
            <a:ext cx="3108960" cy="1783080"/>
          </a:xfrm>
          <a:prstGeom prst="roundRect">
            <a:avLst/>
          </a:prstGeom>
          <a:solidFill>
            <a:srgbClr val="261616"/>
          </a:solidFill>
          <a:ln w="12700">
            <a:solidFill>
              <a:srgbClr val="EE4D2D"/>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91440"/>
          <a:lstStyle/>
          <a:p>
            <a:pPr algn="ctr">
              <a:spcAft>
                <a:spcPts val="400"/>
              </a:spcAft>
              <a:defRPr b="1" sz="1000">
                <a:solidFill>
                  <a:srgbClr val="EE4D2D"/>
                </a:solidFill>
                <a:latin typeface="Arial"/>
              </a:defRPr>
            </a:pPr>
            <a:r>
              <a:t>💡 Catatan Kunci Dosen:</a:t>
            </a:r>
          </a:p>
          <a:p>
            <a:pPr>
              <a:defRPr i="1" sz="950">
                <a:solidFill>
                  <a:srgbClr val="F8FAFC"/>
                </a:solidFill>
                <a:latin typeface="Arial"/>
              </a:defRPr>
            </a:pPr>
            <a:r>
              <a:t>"Manusia sering menentukan berhasil atau tidaknya SI: Sistem sebagus apa pun gagal jika tidak dipakai."</a:t>
            </a:r>
          </a:p>
        </p:txBody>
      </p:sp>
      <p:graphicFrame>
        <p:nvGraphicFramePr>
          <p:cNvPr id="7" name="Table 6"/>
          <p:cNvGraphicFramePr>
            <a:graphicFrameLocks noGrp="1"/>
          </p:cNvGraphicFramePr>
          <p:nvPr/>
        </p:nvGraphicFramePr>
        <p:xfrm>
          <a:off x="4389120" y="1463040"/>
          <a:ext cx="7071055" cy="4846320"/>
        </p:xfrm>
        <a:graphic>
          <a:graphicData uri="http://schemas.openxmlformats.org/drawingml/2006/table">
            <a:tbl>
              <a:tblPr firstRow="1" bandRow="1">
                <a:tableStyleId>{5C22544A-7EE6-4342-B048-85BDC9FD1C3A}</a:tableStyleId>
              </a:tblPr>
              <a:tblGrid>
                <a:gridCol w="1645920"/>
                <a:gridCol w="2743200"/>
                <a:gridCol w="2681935"/>
              </a:tblGrid>
              <a:tr h="692331">
                <a:tc>
                  <a:txBody>
                    <a:bodyPr/>
                    <a:lstStyle/>
                    <a:p>
                      <a:pPr algn="l">
                        <a:defRPr b="1" sz="1050">
                          <a:solidFill>
                            <a:srgbClr val="FF7A45"/>
                          </a:solidFill>
                          <a:latin typeface="Arial"/>
                        </a:defRPr>
                      </a:pPr>
                      <a:r>
                        <a:t>Komponen SI</a:t>
                      </a:r>
                    </a:p>
                  </a:txBody>
                  <a:tcPr anchor="ctr">
                    <a:solidFill>
                      <a:srgbClr val="1C263D"/>
                    </a:solidFill>
                  </a:tcPr>
                </a:tc>
                <a:tc>
                  <a:txBody>
                    <a:bodyPr/>
                    <a:lstStyle/>
                    <a:p>
                      <a:pPr algn="l">
                        <a:defRPr b="1" sz="1050">
                          <a:solidFill>
                            <a:srgbClr val="FF7A45"/>
                          </a:solidFill>
                          <a:latin typeface="Arial"/>
                        </a:defRPr>
                      </a:pPr>
                      <a:r>
                        <a:t>Penerapan Konkret pada Shopee</a:t>
                      </a:r>
                    </a:p>
                  </a:txBody>
                  <a:tcPr anchor="ctr">
                    <a:solidFill>
                      <a:srgbClr val="1C263D"/>
                    </a:solidFill>
                  </a:tcPr>
                </a:tc>
                <a:tc>
                  <a:txBody>
                    <a:bodyPr/>
                    <a:lstStyle/>
                    <a:p>
                      <a:pPr algn="l">
                        <a:defRPr b="1" sz="1050">
                          <a:solidFill>
                            <a:srgbClr val="FF7A45"/>
                          </a:solidFill>
                          <a:latin typeface="Arial"/>
                        </a:defRPr>
                      </a:pPr>
                      <a:r>
                        <a:t>Peran &amp; Fungsi dalam Ekosistem</a:t>
                      </a:r>
                    </a:p>
                  </a:txBody>
                  <a:tcPr anchor="ctr">
                    <a:solidFill>
                      <a:srgbClr val="1C263D"/>
                    </a:solidFill>
                  </a:tcPr>
                </a:tc>
              </a:tr>
              <a:tr h="692331">
                <a:tc>
                  <a:txBody>
                    <a:bodyPr wrap="square" lIns="73152" rIns="73152" tIns="54864" bIns="54864"/>
                    <a:lstStyle/>
                    <a:p>
                      <a:pPr>
                        <a:defRPr sz="950" b="1">
                          <a:solidFill>
                            <a:srgbClr val="F8FAFC"/>
                          </a:solidFill>
                          <a:latin typeface="Arial"/>
                        </a:defRPr>
                      </a:pPr>
                      <a:r>
                        <a:t>1. Perangkat Keras</a:t>
                      </a:r>
                    </a:p>
                    <a:p>
                      <a:pPr>
                        <a:defRPr sz="950" b="1">
                          <a:solidFill>
                            <a:srgbClr val="F8FAFC"/>
                          </a:solidFill>
                          <a:latin typeface="Arial"/>
                        </a:defRPr>
                      </a:pPr>
                      <a:r>
                        <a:t>(Hardware)</a:t>
                      </a:r>
                    </a:p>
                  </a:txBody>
                  <a:tcPr anchor="ctr">
                    <a:solidFill>
                      <a:srgbClr val="171F33"/>
                    </a:solidFill>
                  </a:tcPr>
                </a:tc>
                <a:tc>
                  <a:txBody>
                    <a:bodyPr wrap="square" lIns="73152" rIns="73152" tIns="54864" bIns="54864"/>
                    <a:lstStyle/>
                    <a:p>
                      <a:pPr>
                        <a:defRPr sz="950">
                          <a:solidFill>
                            <a:srgbClr val="F8FAFC"/>
                          </a:solidFill>
                          <a:latin typeface="Arial"/>
                        </a:defRPr>
                      </a:pPr>
                      <a:r>
                        <a:t>• Cloud Server AWS &amp; Tencent</a:t>
                      </a:r>
                    </a:p>
                    <a:p>
                      <a:pPr>
                        <a:defRPr sz="950">
                          <a:solidFill>
                            <a:srgbClr val="F8FAFC"/>
                          </a:solidFill>
                          <a:latin typeface="Arial"/>
                        </a:defRPr>
                      </a:pPr>
                      <a:r>
                        <a:t>• Smartphone pengguna (iOS/Android)</a:t>
                      </a:r>
                    </a:p>
                    <a:p>
                      <a:pPr>
                        <a:defRPr sz="950">
                          <a:solidFill>
                            <a:srgbClr val="F8FAFC"/>
                          </a:solidFill>
                          <a:latin typeface="Arial"/>
                        </a:defRPr>
                      </a:pPr>
                      <a:r>
                        <a:t>• Scanner PDA &amp; printer label SPX</a:t>
                      </a:r>
                    </a:p>
                  </a:txBody>
                  <a:tcPr anchor="ctr">
                    <a:solidFill>
                      <a:srgbClr val="171F33"/>
                    </a:solidFill>
                  </a:tcPr>
                </a:tc>
                <a:tc>
                  <a:txBody>
                    <a:bodyPr wrap="square" lIns="73152" rIns="73152" tIns="54864" bIns="54864"/>
                    <a:lstStyle/>
                    <a:p>
                      <a:pPr>
                        <a:defRPr sz="950" b="1">
                          <a:solidFill>
                            <a:srgbClr val="EE4D2D"/>
                          </a:solidFill>
                          <a:latin typeface="Arial"/>
                        </a:defRPr>
                      </a:pPr>
                      <a:r>
                        <a:t>Menopang beban komputasi jutaan req/dtk, UI aplikasi mobile, serta sorting paket fisik.</a:t>
                      </a:r>
                    </a:p>
                  </a:txBody>
                  <a:tcPr anchor="ctr">
                    <a:solidFill>
                      <a:srgbClr val="171F33"/>
                    </a:solidFill>
                  </a:tcPr>
                </a:tc>
              </a:tr>
              <a:tr h="692331">
                <a:tc>
                  <a:txBody>
                    <a:bodyPr wrap="square" lIns="73152" rIns="73152" tIns="54864" bIns="54864"/>
                    <a:lstStyle/>
                    <a:p>
                      <a:pPr>
                        <a:defRPr sz="950" b="1">
                          <a:solidFill>
                            <a:srgbClr val="F8FAFC"/>
                          </a:solidFill>
                          <a:latin typeface="Arial"/>
                        </a:defRPr>
                      </a:pPr>
                      <a:r>
                        <a:t>2. Perangkat Lunak</a:t>
                      </a:r>
                    </a:p>
                    <a:p>
                      <a:pPr>
                        <a:defRPr sz="950" b="1">
                          <a:solidFill>
                            <a:srgbClr val="F8FAFC"/>
                          </a:solidFill>
                          <a:latin typeface="Arial"/>
                        </a:defRPr>
                      </a:pPr>
                      <a:r>
                        <a:t>(Software)</a:t>
                      </a:r>
                    </a:p>
                  </a:txBody>
                  <a:tcPr anchor="ctr">
                    <a:solidFill>
                      <a:srgbClr val="1E2943"/>
                    </a:solidFill>
                  </a:tcPr>
                </a:tc>
                <a:tc>
                  <a:txBody>
                    <a:bodyPr wrap="square" lIns="73152" rIns="73152" tIns="54864" bIns="54864"/>
                    <a:lstStyle/>
                    <a:p>
                      <a:pPr>
                        <a:defRPr sz="950">
                          <a:solidFill>
                            <a:srgbClr val="F8FAFC"/>
                          </a:solidFill>
                          <a:latin typeface="Arial"/>
                        </a:defRPr>
                      </a:pPr>
                      <a:r>
                        <a:t>• Mobile App &amp; Web Seller Centre</a:t>
                      </a:r>
                    </a:p>
                    <a:p>
                      <a:pPr>
                        <a:defRPr sz="950">
                          <a:solidFill>
                            <a:srgbClr val="F8FAFC"/>
                          </a:solidFill>
                          <a:latin typeface="Arial"/>
                        </a:defRPr>
                      </a:pPr>
                      <a:r>
                        <a:t>• Microservices backend (Go &amp; Java)</a:t>
                      </a:r>
                    </a:p>
                    <a:p>
                      <a:pPr>
                        <a:defRPr sz="950">
                          <a:solidFill>
                            <a:srgbClr val="F8FAFC"/>
                          </a:solidFill>
                          <a:latin typeface="Arial"/>
                        </a:defRPr>
                      </a:pPr>
                      <a:r>
                        <a:t>• Distributed TiDB &amp; in-memory Redis</a:t>
                      </a:r>
                    </a:p>
                  </a:txBody>
                  <a:tcPr anchor="ctr">
                    <a:solidFill>
                      <a:srgbClr val="1E2943"/>
                    </a:solidFill>
                  </a:tcPr>
                </a:tc>
                <a:tc>
                  <a:txBody>
                    <a:bodyPr wrap="square" lIns="73152" rIns="73152" tIns="54864" bIns="54864"/>
                    <a:lstStyle/>
                    <a:p>
                      <a:pPr>
                        <a:defRPr sz="950" b="1">
                          <a:solidFill>
                            <a:srgbClr val="EE4D2D"/>
                          </a:solidFill>
                          <a:latin typeface="Arial"/>
                        </a:defRPr>
                      </a:pPr>
                      <a:r>
                        <a:t>Menjalankan logika bisnis cart, promo flash sale, serta pembacaan data super cepat (&lt;100ms).</a:t>
                      </a:r>
                    </a:p>
                  </a:txBody>
                  <a:tcPr anchor="ctr">
                    <a:solidFill>
                      <a:srgbClr val="1E2943"/>
                    </a:solidFill>
                  </a:tcPr>
                </a:tc>
              </a:tr>
              <a:tr h="692331">
                <a:tc>
                  <a:txBody>
                    <a:bodyPr wrap="square" lIns="73152" rIns="73152" tIns="54864" bIns="54864"/>
                    <a:lstStyle/>
                    <a:p>
                      <a:pPr>
                        <a:defRPr sz="950" b="1">
                          <a:solidFill>
                            <a:srgbClr val="F8FAFC"/>
                          </a:solidFill>
                          <a:latin typeface="Arial"/>
                        </a:defRPr>
                      </a:pPr>
                      <a:r>
                        <a:t>3. Data</a:t>
                      </a:r>
                    </a:p>
                  </a:txBody>
                  <a:tcPr anchor="ctr">
                    <a:solidFill>
                      <a:srgbClr val="171F33"/>
                    </a:solidFill>
                  </a:tcPr>
                </a:tc>
                <a:tc>
                  <a:txBody>
                    <a:bodyPr wrap="square" lIns="73152" rIns="73152" tIns="54864" bIns="54864"/>
                    <a:lstStyle/>
                    <a:p>
                      <a:pPr>
                        <a:defRPr sz="950">
                          <a:solidFill>
                            <a:srgbClr val="F8FAFC"/>
                          </a:solidFill>
                          <a:latin typeface="Arial"/>
                        </a:defRPr>
                      </a:pPr>
                      <a:r>
                        <a:t>• Master katalog SKU &amp; variasi harga</a:t>
                      </a:r>
                    </a:p>
                    <a:p>
                      <a:pPr>
                        <a:defRPr sz="950">
                          <a:solidFill>
                            <a:srgbClr val="F8FAFC"/>
                          </a:solidFill>
                          <a:latin typeface="Arial"/>
                        </a:defRPr>
                      </a:pPr>
                      <a:r>
                        <a:t>• Log transaksi order &amp; escrow lock</a:t>
                      </a:r>
                    </a:p>
                    <a:p>
                      <a:pPr>
                        <a:defRPr sz="950">
                          <a:solidFill>
                            <a:srgbClr val="F8FAFC"/>
                          </a:solidFill>
                          <a:latin typeface="Arial"/>
                        </a:defRPr>
                      </a:pPr>
                      <a:r>
                        <a:t>• Titik GPS kurir &amp; scoring SPayLater</a:t>
                      </a:r>
                    </a:p>
                  </a:txBody>
                  <a:tcPr anchor="ctr">
                    <a:solidFill>
                      <a:srgbClr val="171F33"/>
                    </a:solidFill>
                  </a:tcPr>
                </a:tc>
                <a:tc>
                  <a:txBody>
                    <a:bodyPr wrap="square" lIns="73152" rIns="73152" tIns="54864" bIns="54864"/>
                    <a:lstStyle/>
                    <a:p>
                      <a:pPr>
                        <a:defRPr sz="950" b="1">
                          <a:solidFill>
                            <a:srgbClr val="EE4D2D"/>
                          </a:solidFill>
                          <a:latin typeface="Arial"/>
                        </a:defRPr>
                      </a:pPr>
                      <a:r>
                        <a:t>Single Source of Truth stok toko riil, pelacakan live paket, dan analisa kelayakan kredit.</a:t>
                      </a:r>
                    </a:p>
                  </a:txBody>
                  <a:tcPr anchor="ctr">
                    <a:solidFill>
                      <a:srgbClr val="171F33"/>
                    </a:solidFill>
                  </a:tcPr>
                </a:tc>
              </a:tr>
              <a:tr h="692331">
                <a:tc>
                  <a:txBody>
                    <a:bodyPr wrap="square" lIns="73152" rIns="73152" tIns="54864" bIns="54864"/>
                    <a:lstStyle/>
                    <a:p>
                      <a:pPr>
                        <a:defRPr sz="950" b="1">
                          <a:solidFill>
                            <a:srgbClr val="F8FAFC"/>
                          </a:solidFill>
                          <a:latin typeface="Arial"/>
                        </a:defRPr>
                      </a:pPr>
                      <a:r>
                        <a:t>4. Jaringan</a:t>
                      </a:r>
                    </a:p>
                    <a:p>
                      <a:pPr>
                        <a:defRPr sz="950" b="1">
                          <a:solidFill>
                            <a:srgbClr val="F8FAFC"/>
                          </a:solidFill>
                          <a:latin typeface="Arial"/>
                        </a:defRPr>
                      </a:pPr>
                      <a:r>
                        <a:t>(Network)</a:t>
                      </a:r>
                    </a:p>
                  </a:txBody>
                  <a:tcPr anchor="ctr">
                    <a:solidFill>
                      <a:srgbClr val="1E2943"/>
                    </a:solidFill>
                  </a:tcPr>
                </a:tc>
                <a:tc>
                  <a:txBody>
                    <a:bodyPr wrap="square" lIns="73152" rIns="73152" tIns="54864" bIns="54864"/>
                    <a:lstStyle/>
                    <a:p>
                      <a:pPr>
                        <a:defRPr sz="950">
                          <a:solidFill>
                            <a:srgbClr val="F8FAFC"/>
                          </a:solidFill>
                          <a:latin typeface="Arial"/>
                        </a:defRPr>
                      </a:pPr>
                      <a:r>
                        <a:t>• Internet seluler 4G/5G publik</a:t>
                      </a:r>
                    </a:p>
                    <a:p>
                      <a:pPr>
                        <a:defRPr sz="950">
                          <a:solidFill>
                            <a:srgbClr val="F8FAFC"/>
                          </a:solidFill>
                          <a:latin typeface="Arial"/>
                        </a:defRPr>
                      </a:pPr>
                      <a:r>
                        <a:t>• Cloudflare CDN &amp; proteksi Anti-DDoS</a:t>
                      </a:r>
                    </a:p>
                    <a:p>
                      <a:pPr>
                        <a:defRPr sz="950">
                          <a:solidFill>
                            <a:srgbClr val="F8FAFC"/>
                          </a:solidFill>
                          <a:latin typeface="Arial"/>
                        </a:defRPr>
                      </a:pPr>
                      <a:r>
                        <a:t>• Secure API Gateway antarlayanan</a:t>
                      </a:r>
                    </a:p>
                  </a:txBody>
                  <a:tcPr anchor="ctr">
                    <a:solidFill>
                      <a:srgbClr val="1E2943"/>
                    </a:solidFill>
                  </a:tcPr>
                </a:tc>
                <a:tc>
                  <a:txBody>
                    <a:bodyPr wrap="square" lIns="73152" rIns="73152" tIns="54864" bIns="54864"/>
                    <a:lstStyle/>
                    <a:p>
                      <a:pPr>
                        <a:defRPr sz="950" b="1">
                          <a:solidFill>
                            <a:srgbClr val="EE4D2D"/>
                          </a:solidFill>
                          <a:latin typeface="Arial"/>
                        </a:defRPr>
                      </a:pPr>
                      <a:r>
                        <a:t>Menghubungkan user ke server, mempercepat loading aset media, serta integrasi gateway bank.</a:t>
                      </a:r>
                    </a:p>
                  </a:txBody>
                  <a:tcPr anchor="ctr">
                    <a:solidFill>
                      <a:srgbClr val="1E2943"/>
                    </a:solidFill>
                  </a:tcPr>
                </a:tc>
              </a:tr>
              <a:tr h="692331">
                <a:tc>
                  <a:txBody>
                    <a:bodyPr wrap="square" lIns="73152" rIns="73152" tIns="54864" bIns="54864"/>
                    <a:lstStyle/>
                    <a:p>
                      <a:pPr>
                        <a:defRPr sz="950" b="1">
                          <a:solidFill>
                            <a:srgbClr val="F8FAFC"/>
                          </a:solidFill>
                          <a:latin typeface="Arial"/>
                        </a:defRPr>
                      </a:pPr>
                      <a:r>
                        <a:t>5. Prosedur</a:t>
                      </a:r>
                    </a:p>
                    <a:p>
                      <a:pPr>
                        <a:defRPr sz="950" b="1">
                          <a:solidFill>
                            <a:srgbClr val="F8FAFC"/>
                          </a:solidFill>
                          <a:latin typeface="Arial"/>
                        </a:defRPr>
                      </a:pPr>
                      <a:r>
                        <a:t>(Procedures)</a:t>
                      </a:r>
                    </a:p>
                  </a:txBody>
                  <a:tcPr anchor="ctr">
                    <a:solidFill>
                      <a:srgbClr val="171F33"/>
                    </a:solidFill>
                  </a:tcPr>
                </a:tc>
                <a:tc>
                  <a:txBody>
                    <a:bodyPr wrap="square" lIns="73152" rIns="73152" tIns="54864" bIns="54864"/>
                    <a:lstStyle/>
                    <a:p>
                      <a:pPr>
                        <a:defRPr sz="950">
                          <a:solidFill>
                            <a:srgbClr val="F8FAFC"/>
                          </a:solidFill>
                          <a:latin typeface="Arial"/>
                        </a:defRPr>
                      </a:pPr>
                      <a:r>
                        <a:t>• SOP Garansi Shopee (Escrow)</a:t>
                      </a:r>
                    </a:p>
                    <a:p>
                      <a:pPr>
                        <a:defRPr sz="950">
                          <a:solidFill>
                            <a:srgbClr val="F8FAFC"/>
                          </a:solidFill>
                          <a:latin typeface="Arial"/>
                        </a:defRPr>
                      </a:pPr>
                      <a:r>
                        <a:t>• SLA batas kirim seller (maks. 2 hari)</a:t>
                      </a:r>
                    </a:p>
                    <a:p>
                      <a:pPr>
                        <a:defRPr sz="950">
                          <a:solidFill>
                            <a:srgbClr val="F8FAFC"/>
                          </a:solidFill>
                          <a:latin typeface="Arial"/>
                        </a:defRPr>
                      </a:pPr>
                      <a:r>
                        <a:t>• SOP KYC e-KTP &amp; alur retur barang</a:t>
                      </a:r>
                    </a:p>
                  </a:txBody>
                  <a:tcPr anchor="ctr">
                    <a:solidFill>
                      <a:srgbClr val="171F33"/>
                    </a:solidFill>
                  </a:tcPr>
                </a:tc>
                <a:tc>
                  <a:txBody>
                    <a:bodyPr wrap="square" lIns="73152" rIns="73152" tIns="54864" bIns="54864"/>
                    <a:lstStyle/>
                    <a:p>
                      <a:pPr>
                        <a:defRPr sz="950" b="1">
                          <a:solidFill>
                            <a:srgbClr val="EE4D2D"/>
                          </a:solidFill>
                          <a:latin typeface="Arial"/>
                        </a:defRPr>
                      </a:pPr>
                      <a:r>
                        <a:t>Menjamin keamanan dana transaksi, mencegah fraud seller-buyer, serta standardisasi servis.</a:t>
                      </a:r>
                    </a:p>
                  </a:txBody>
                  <a:tcPr anchor="ctr">
                    <a:solidFill>
                      <a:srgbClr val="171F33"/>
                    </a:solidFill>
                  </a:tcPr>
                </a:tc>
              </a:tr>
              <a:tr h="692334">
                <a:tc>
                  <a:txBody>
                    <a:bodyPr wrap="square" lIns="73152" rIns="73152" tIns="54864" bIns="54864"/>
                    <a:lstStyle/>
                    <a:p>
                      <a:pPr>
                        <a:defRPr sz="950" b="1">
                          <a:solidFill>
                            <a:srgbClr val="F8FAFC"/>
                          </a:solidFill>
                          <a:latin typeface="Arial"/>
                        </a:defRPr>
                      </a:pPr>
                      <a:r>
                        <a:t>6. Manusia</a:t>
                      </a:r>
                    </a:p>
                    <a:p>
                      <a:pPr>
                        <a:defRPr sz="950" b="1">
                          <a:solidFill>
                            <a:srgbClr val="F8FAFC"/>
                          </a:solidFill>
                          <a:latin typeface="Arial"/>
                        </a:defRPr>
                      </a:pPr>
                      <a:r>
                        <a:t>(People - Kunci)</a:t>
                      </a:r>
                    </a:p>
                  </a:txBody>
                  <a:tcPr anchor="ctr">
                    <a:solidFill>
                      <a:srgbClr val="1E2943"/>
                    </a:solidFill>
                  </a:tcPr>
                </a:tc>
                <a:tc>
                  <a:txBody>
                    <a:bodyPr wrap="square" lIns="73152" rIns="73152" tIns="54864" bIns="54864"/>
                    <a:lstStyle/>
                    <a:p>
                      <a:pPr>
                        <a:defRPr sz="950">
                          <a:solidFill>
                            <a:srgbClr val="F8FAFC"/>
                          </a:solidFill>
                          <a:latin typeface="Arial"/>
                        </a:defRPr>
                      </a:pPr>
                      <a:r>
                        <a:t>• Pembeli (Buyer) &amp; Merchant UMKM</a:t>
                      </a:r>
                    </a:p>
                    <a:p>
                      <a:pPr>
                        <a:defRPr sz="950">
                          <a:solidFill>
                            <a:srgbClr val="F8FAFC"/>
                          </a:solidFill>
                          <a:latin typeface="Arial"/>
                        </a:defRPr>
                      </a:pPr>
                      <a:r>
                        <a:t>• Mitra Driver SPX &amp; staf sortation</a:t>
                      </a:r>
                    </a:p>
                    <a:p>
                      <a:pPr>
                        <a:defRPr sz="950">
                          <a:solidFill>
                            <a:srgbClr val="F8FAFC"/>
                          </a:solidFill>
                          <a:latin typeface="Arial"/>
                        </a:defRPr>
                      </a:pPr>
                      <a:r>
                        <a:t>• Software Engineers &amp; tim CS 24/7</a:t>
                      </a:r>
                    </a:p>
                  </a:txBody>
                  <a:tcPr anchor="ctr">
                    <a:solidFill>
                      <a:srgbClr val="1E2943"/>
                    </a:solidFill>
                  </a:tcPr>
                </a:tc>
                <a:tc>
                  <a:txBody>
                    <a:bodyPr wrap="square" lIns="73152" rIns="73152" tIns="54864" bIns="54864"/>
                    <a:lstStyle/>
                    <a:p>
                      <a:pPr>
                        <a:defRPr sz="950" b="1">
                          <a:solidFill>
                            <a:srgbClr val="EE4D2D"/>
                          </a:solidFill>
                          <a:latin typeface="Arial"/>
                        </a:defRPr>
                      </a:pPr>
                      <a:r>
                        <a:t>[Faktor Penentu]</a:t>
                      </a:r>
                    </a:p>
                    <a:p>
                      <a:pPr>
                        <a:defRPr sz="950" b="1">
                          <a:solidFill>
                            <a:srgbClr val="EE4D2D"/>
                          </a:solidFill>
                          <a:latin typeface="Arial"/>
                        </a:defRPr>
                      </a:pPr>
                      <a:r>
                        <a:t>Keberhasilan sistem bertumpu pada adopsi pengguna, literasi keamanan, &amp; respon kurir.</a:t>
                      </a:r>
                    </a:p>
                  </a:txBody>
                  <a:tcPr anchor="ctr">
                    <a:solidFill>
                      <a:srgbClr val="1E2943"/>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l">
              <a:spcAft>
                <a:spcPts val="400"/>
              </a:spcAft>
              <a:defRPr sz="1100" b="1">
                <a:solidFill>
                  <a:srgbClr val="EE4D2D"/>
                </a:solidFill>
                <a:latin typeface="Arial"/>
              </a:defRPr>
            </a:pPr>
            <a:r>
              <a:t>TABEL ANALISIS 2 (BAGIAN 1) · PRINSIP PERANCANGAN SISTEM INFORMASI</a:t>
            </a:r>
          </a:p>
          <a:p>
            <a:pPr algn="l">
              <a:defRPr sz="2200" b="1">
                <a:solidFill>
                  <a:srgbClr val="F8FAFC"/>
                </a:solidFill>
                <a:latin typeface="Arial"/>
              </a:defRPr>
            </a:pPr>
            <a:r>
              <a:t>Matriks Analisis Prinsip 1, 2, dan 3 pada Shopee</a:t>
            </a:r>
          </a:p>
        </p:txBody>
      </p:sp>
      <p:graphicFrame>
        <p:nvGraphicFramePr>
          <p:cNvPr id="3" name="Table 2"/>
          <p:cNvGraphicFramePr>
            <a:graphicFrameLocks noGrp="1"/>
          </p:cNvGraphicFramePr>
          <p:nvPr/>
        </p:nvGraphicFramePr>
        <p:xfrm>
          <a:off x="731520" y="1463040"/>
          <a:ext cx="10728655" cy="4846320"/>
        </p:xfrm>
        <a:graphic>
          <a:graphicData uri="http://schemas.openxmlformats.org/drawingml/2006/table">
            <a:tbl>
              <a:tblPr firstRow="1" bandRow="1">
                <a:tableStyleId>{5C22544A-7EE6-4342-B048-85BDC9FD1C3A}</a:tableStyleId>
              </a:tblPr>
              <a:tblGrid>
                <a:gridCol w="548640"/>
                <a:gridCol w="2011680"/>
                <a:gridCol w="2651760"/>
                <a:gridCol w="3017520"/>
                <a:gridCol w="2499055"/>
              </a:tblGrid>
              <a:tr h="1211580">
                <a:tc>
                  <a:txBody>
                    <a:bodyPr/>
                    <a:lstStyle/>
                    <a:p>
                      <a:pPr algn="l">
                        <a:defRPr b="1" sz="1050">
                          <a:solidFill>
                            <a:srgbClr val="FF7A45"/>
                          </a:solidFill>
                          <a:latin typeface="Arial"/>
                        </a:defRPr>
                      </a:pPr>
                      <a:r>
                        <a:t>No</a:t>
                      </a:r>
                    </a:p>
                  </a:txBody>
                  <a:tcPr anchor="ctr">
                    <a:solidFill>
                      <a:srgbClr val="1C263D"/>
                    </a:solidFill>
                  </a:tcPr>
                </a:tc>
                <a:tc>
                  <a:txBody>
                    <a:bodyPr/>
                    <a:lstStyle/>
                    <a:p>
                      <a:pPr algn="l">
                        <a:defRPr b="1" sz="1050">
                          <a:solidFill>
                            <a:srgbClr val="FF7A45"/>
                          </a:solidFill>
                          <a:latin typeface="Arial"/>
                        </a:defRPr>
                      </a:pPr>
                      <a:r>
                        <a:t>Prinsip Perancangan SI</a:t>
                      </a:r>
                    </a:p>
                  </a:txBody>
                  <a:tcPr anchor="ctr">
                    <a:solidFill>
                      <a:srgbClr val="1C263D"/>
                    </a:solidFill>
                  </a:tcPr>
                </a:tc>
                <a:tc>
                  <a:txBody>
                    <a:bodyPr/>
                    <a:lstStyle/>
                    <a:p>
                      <a:pPr algn="l">
                        <a:defRPr b="1" sz="1050">
                          <a:solidFill>
                            <a:srgbClr val="FF7A45"/>
                          </a:solidFill>
                          <a:latin typeface="Arial"/>
                        </a:defRPr>
                      </a:pPr>
                      <a:r>
                        <a:t>Definisi Teori Kuliah</a:t>
                      </a:r>
                    </a:p>
                  </a:txBody>
                  <a:tcPr anchor="ctr">
                    <a:solidFill>
                      <a:srgbClr val="1C263D"/>
                    </a:solidFill>
                  </a:tcPr>
                </a:tc>
                <a:tc>
                  <a:txBody>
                    <a:bodyPr/>
                    <a:lstStyle/>
                    <a:p>
                      <a:pPr algn="l">
                        <a:defRPr b="1" sz="1050">
                          <a:solidFill>
                            <a:srgbClr val="FF7A45"/>
                          </a:solidFill>
                          <a:latin typeface="Arial"/>
                        </a:defRPr>
                      </a:pPr>
                      <a:r>
                        <a:t>Implementasi Nyata pada Shopee</a:t>
                      </a:r>
                    </a:p>
                  </a:txBody>
                  <a:tcPr anchor="ctr">
                    <a:solidFill>
                      <a:srgbClr val="1C263D"/>
                    </a:solidFill>
                  </a:tcPr>
                </a:tc>
                <a:tc>
                  <a:txBody>
                    <a:bodyPr/>
                    <a:lstStyle/>
                    <a:p>
                      <a:pPr algn="l">
                        <a:defRPr b="1" sz="1050">
                          <a:solidFill>
                            <a:srgbClr val="FF7A45"/>
                          </a:solidFill>
                          <a:latin typeface="Arial"/>
                        </a:defRPr>
                      </a:pPr>
                      <a:r>
                        <a:t>Evaluasi Kritis</a:t>
                      </a:r>
                    </a:p>
                  </a:txBody>
                  <a:tcPr anchor="ctr">
                    <a:solidFill>
                      <a:srgbClr val="1C263D"/>
                    </a:solidFill>
                  </a:tcPr>
                </a:tc>
              </a:tr>
              <a:tr h="1211580">
                <a:tc>
                  <a:txBody>
                    <a:bodyPr wrap="square" lIns="73152" rIns="73152" tIns="54864" bIns="54864"/>
                    <a:lstStyle/>
                    <a:p>
                      <a:pPr>
                        <a:defRPr sz="950" b="1">
                          <a:solidFill>
                            <a:srgbClr val="F8FAFC"/>
                          </a:solidFill>
                          <a:latin typeface="Arial"/>
                        </a:defRPr>
                      </a:pPr>
                      <a:r>
                        <a:t>1</a:t>
                      </a:r>
                    </a:p>
                  </a:txBody>
                  <a:tcPr anchor="ctr">
                    <a:solidFill>
                      <a:srgbClr val="171F33"/>
                    </a:solidFill>
                  </a:tcPr>
                </a:tc>
                <a:tc>
                  <a:txBody>
                    <a:bodyPr wrap="square" lIns="73152" rIns="73152" tIns="54864" bIns="54864"/>
                    <a:lstStyle/>
                    <a:p>
                      <a:pPr>
                        <a:defRPr sz="950">
                          <a:solidFill>
                            <a:srgbClr val="9AA4B2"/>
                          </a:solidFill>
                          <a:latin typeface="Arial"/>
                        </a:defRPr>
                      </a:pPr>
                      <a:r>
                        <a:t>Berorientasi</a:t>
                      </a:r>
                    </a:p>
                    <a:p>
                      <a:pPr>
                        <a:defRPr sz="950">
                          <a:solidFill>
                            <a:srgbClr val="9AA4B2"/>
                          </a:solidFill>
                          <a:latin typeface="Arial"/>
                        </a:defRPr>
                      </a:pPr>
                      <a:r>
                        <a:t>Pengguna</a:t>
                      </a:r>
                    </a:p>
                    <a:p>
                      <a:pPr>
                        <a:defRPr sz="950">
                          <a:solidFill>
                            <a:srgbClr val="9AA4B2"/>
                          </a:solidFill>
                          <a:latin typeface="Arial"/>
                        </a:defRPr>
                      </a:pPr>
                      <a:r>
                        <a:t>(User-Oriented)</a:t>
                      </a:r>
                    </a:p>
                  </a:txBody>
                  <a:tcPr anchor="ctr">
                    <a:solidFill>
                      <a:srgbClr val="171F33"/>
                    </a:solidFill>
                  </a:tcPr>
                </a:tc>
                <a:tc>
                  <a:txBody>
                    <a:bodyPr wrap="square" lIns="73152" rIns="73152" tIns="54864" bIns="54864"/>
                    <a:lstStyle/>
                    <a:p>
                      <a:pPr>
                        <a:defRPr sz="950">
                          <a:solidFill>
                            <a:srgbClr val="9AA4B2"/>
                          </a:solidFill>
                          <a:latin typeface="Arial"/>
                        </a:defRPr>
                      </a:pPr>
                      <a:r>
                        <a:t>Rancang sesuai kebutuhan pengguna.</a:t>
                      </a:r>
                    </a:p>
                    <a:p>
                      <a:pPr>
                        <a:defRPr sz="950">
                          <a:solidFill>
                            <a:srgbClr val="9AA4B2"/>
                          </a:solidFill>
                          <a:latin typeface="Arial"/>
                        </a:defRPr>
                      </a:pPr>
                      <a:r>
                        <a:t>(Contoh: wawancara pengguna sebelum membuat menu).</a:t>
                      </a:r>
                    </a:p>
                  </a:txBody>
                  <a:tcPr anchor="ctr">
                    <a:solidFill>
                      <a:srgbClr val="171F33"/>
                    </a:solidFill>
                  </a:tcPr>
                </a:tc>
                <a:tc>
                  <a:txBody>
                    <a:bodyPr wrap="square" lIns="73152" rIns="73152" tIns="54864" bIns="54864"/>
                    <a:lstStyle/>
                    <a:p>
                      <a:pPr>
                        <a:defRPr sz="950">
                          <a:solidFill>
                            <a:srgbClr val="F8FAFC"/>
                          </a:solidFill>
                          <a:latin typeface="Arial"/>
                        </a:defRPr>
                      </a:pPr>
                      <a:r>
                        <a:t>• Fitur COD bagi masyarakat unbanked.</a:t>
                      </a:r>
                    </a:p>
                    <a:p>
                      <a:pPr>
                        <a:defRPr sz="950">
                          <a:solidFill>
                            <a:srgbClr val="F8FAFC"/>
                          </a:solidFill>
                          <a:latin typeface="Arial"/>
                        </a:defRPr>
                      </a:pPr>
                      <a:r>
                        <a:t>• Fitur chat langsung dengan pedagang.</a:t>
                      </a:r>
                    </a:p>
                    <a:p>
                      <a:pPr>
                        <a:defRPr sz="950">
                          <a:solidFill>
                            <a:srgbClr val="F8FAFC"/>
                          </a:solidFill>
                          <a:latin typeface="Arial"/>
                        </a:defRPr>
                      </a:pPr>
                      <a:r>
                        <a:t>• Garansi Shopee perlindungan pembeli.</a:t>
                      </a:r>
                    </a:p>
                  </a:txBody>
                  <a:tcPr anchor="ctr">
                    <a:solidFill>
                      <a:srgbClr val="171F33"/>
                    </a:solidFill>
                  </a:tcPr>
                </a:tc>
                <a:tc>
                  <a:txBody>
                    <a:bodyPr wrap="square" lIns="73152" rIns="73152" tIns="54864" bIns="54864"/>
                    <a:lstStyle/>
                    <a:p>
                      <a:pPr>
                        <a:defRPr sz="950" b="1">
                          <a:solidFill>
                            <a:srgbClr val="EE4D2D"/>
                          </a:solidFill>
                          <a:latin typeface="Arial"/>
                        </a:defRPr>
                      </a:pPr>
                      <a:r>
                        <a:t>[Sangat Adaptif]</a:t>
                      </a:r>
                    </a:p>
                    <a:p>
                      <a:pPr>
                        <a:defRPr sz="950" b="1">
                          <a:solidFill>
                            <a:srgbClr val="EE4D2D"/>
                          </a:solidFill>
                          <a:latin typeface="Arial"/>
                        </a:defRPr>
                      </a:pPr>
                      <a:r>
                        <a:t>Sangat adaptif terhadap budaya belanja lokal masyarakat Indonesia.</a:t>
                      </a:r>
                    </a:p>
                  </a:txBody>
                  <a:tcPr anchor="ctr">
                    <a:solidFill>
                      <a:srgbClr val="171F33"/>
                    </a:solidFill>
                  </a:tcPr>
                </a:tc>
              </a:tr>
              <a:tr h="1211580">
                <a:tc>
                  <a:txBody>
                    <a:bodyPr wrap="square" lIns="73152" rIns="73152" tIns="54864" bIns="54864"/>
                    <a:lstStyle/>
                    <a:p>
                      <a:pPr>
                        <a:defRPr sz="950" b="1">
                          <a:solidFill>
                            <a:srgbClr val="F8FAFC"/>
                          </a:solidFill>
                          <a:latin typeface="Arial"/>
                        </a:defRPr>
                      </a:pPr>
                      <a:r>
                        <a:t>2</a:t>
                      </a:r>
                    </a:p>
                  </a:txBody>
                  <a:tcPr anchor="ctr">
                    <a:solidFill>
                      <a:srgbClr val="1E2943"/>
                    </a:solidFill>
                  </a:tcPr>
                </a:tc>
                <a:tc>
                  <a:txBody>
                    <a:bodyPr wrap="square" lIns="73152" rIns="73152" tIns="54864" bIns="54864"/>
                    <a:lstStyle/>
                    <a:p>
                      <a:pPr>
                        <a:defRPr sz="950">
                          <a:solidFill>
                            <a:srgbClr val="9AA4B2"/>
                          </a:solidFill>
                          <a:latin typeface="Arial"/>
                        </a:defRPr>
                      </a:pPr>
                      <a:r>
                        <a:t>Sederhana</a:t>
                      </a:r>
                    </a:p>
                    <a:p>
                      <a:pPr>
                        <a:defRPr sz="950">
                          <a:solidFill>
                            <a:srgbClr val="9AA4B2"/>
                          </a:solidFill>
                          <a:latin typeface="Arial"/>
                        </a:defRPr>
                      </a:pPr>
                      <a:r>
                        <a:t>(Simplicity)</a:t>
                      </a:r>
                    </a:p>
                  </a:txBody>
                  <a:tcPr anchor="ctr">
                    <a:solidFill>
                      <a:srgbClr val="1E2943"/>
                    </a:solidFill>
                  </a:tcPr>
                </a:tc>
                <a:tc>
                  <a:txBody>
                    <a:bodyPr wrap="square" lIns="73152" rIns="73152" tIns="54864" bIns="54864"/>
                    <a:lstStyle/>
                    <a:p>
                      <a:pPr>
                        <a:defRPr sz="950">
                          <a:solidFill>
                            <a:srgbClr val="9AA4B2"/>
                          </a:solidFill>
                          <a:latin typeface="Arial"/>
                        </a:defRPr>
                      </a:pPr>
                      <a:r>
                        <a:t>Mudah dipelajari.</a:t>
                      </a:r>
                    </a:p>
                    <a:p>
                      <a:pPr>
                        <a:defRPr sz="950">
                          <a:solidFill>
                            <a:srgbClr val="9AA4B2"/>
                          </a:solidFill>
                          <a:latin typeface="Arial"/>
                        </a:defRPr>
                      </a:pPr>
                      <a:r>
                        <a:t>(Contoh: input nilai 3 langkah, bukan 10).</a:t>
                      </a:r>
                    </a:p>
                  </a:txBody>
                  <a:tcPr anchor="ctr">
                    <a:solidFill>
                      <a:srgbClr val="1E2943"/>
                    </a:solidFill>
                  </a:tcPr>
                </a:tc>
                <a:tc>
                  <a:txBody>
                    <a:bodyPr wrap="square" lIns="73152" rIns="73152" tIns="54864" bIns="54864"/>
                    <a:lstStyle/>
                    <a:p>
                      <a:pPr>
                        <a:defRPr sz="950">
                          <a:solidFill>
                            <a:srgbClr val="F8FAFC"/>
                          </a:solidFill>
                          <a:latin typeface="Arial"/>
                        </a:defRPr>
                      </a:pPr>
                      <a:r>
                        <a:t>• Checkout 3 langkah (Beli → Voucher Otomatis → Bayar).</a:t>
                      </a:r>
                    </a:p>
                    <a:p>
                      <a:pPr>
                        <a:defRPr sz="950">
                          <a:solidFill>
                            <a:srgbClr val="F8FAFC"/>
                          </a:solidFill>
                          <a:latin typeface="Arial"/>
                        </a:defRPr>
                      </a:pPr>
                      <a:r>
                        <a:t>• Fitur pencarian gambar dengan kamera.</a:t>
                      </a:r>
                    </a:p>
                  </a:txBody>
                  <a:tcPr anchor="ctr">
                    <a:solidFill>
                      <a:srgbClr val="1E2943"/>
                    </a:solidFill>
                  </a:tcPr>
                </a:tc>
                <a:tc>
                  <a:txBody>
                    <a:bodyPr wrap="square" lIns="73152" rIns="73152" tIns="54864" bIns="54864"/>
                    <a:lstStyle/>
                    <a:p>
                      <a:pPr>
                        <a:defRPr sz="950" b="1">
                          <a:solidFill>
                            <a:srgbClr val="EE4D2D"/>
                          </a:solidFill>
                          <a:latin typeface="Arial"/>
                        </a:defRPr>
                      </a:pPr>
                      <a:r>
                        <a:t>[Mulai Dilanggar]</a:t>
                      </a:r>
                    </a:p>
                    <a:p>
                      <a:pPr>
                        <a:defRPr sz="950" b="1">
                          <a:solidFill>
                            <a:srgbClr val="EE4D2D"/>
                          </a:solidFill>
                          <a:latin typeface="Arial"/>
                        </a:defRPr>
                      </a:pPr>
                      <a:r>
                        <a:t>Akibat bloatware mini-games &amp; pop-up banner bertumpuk.</a:t>
                      </a:r>
                    </a:p>
                  </a:txBody>
                  <a:tcPr anchor="ctr">
                    <a:solidFill>
                      <a:srgbClr val="1E2943"/>
                    </a:solidFill>
                  </a:tcPr>
                </a:tc>
              </a:tr>
              <a:tr h="1211580">
                <a:tc>
                  <a:txBody>
                    <a:bodyPr wrap="square" lIns="73152" rIns="73152" tIns="54864" bIns="54864"/>
                    <a:lstStyle/>
                    <a:p>
                      <a:pPr>
                        <a:defRPr sz="950" b="1">
                          <a:solidFill>
                            <a:srgbClr val="F8FAFC"/>
                          </a:solidFill>
                          <a:latin typeface="Arial"/>
                        </a:defRPr>
                      </a:pPr>
                      <a:r>
                        <a:t>3</a:t>
                      </a:r>
                    </a:p>
                  </a:txBody>
                  <a:tcPr anchor="ctr">
                    <a:solidFill>
                      <a:srgbClr val="171F33"/>
                    </a:solidFill>
                  </a:tcPr>
                </a:tc>
                <a:tc>
                  <a:txBody>
                    <a:bodyPr wrap="square" lIns="73152" rIns="73152" tIns="54864" bIns="54864"/>
                    <a:lstStyle/>
                    <a:p>
                      <a:pPr>
                        <a:defRPr sz="950">
                          <a:solidFill>
                            <a:srgbClr val="9AA4B2"/>
                          </a:solidFill>
                          <a:latin typeface="Arial"/>
                        </a:defRPr>
                      </a:pPr>
                      <a:r>
                        <a:t>Terintegrasi</a:t>
                      </a:r>
                    </a:p>
                    <a:p>
                      <a:pPr>
                        <a:defRPr sz="950">
                          <a:solidFill>
                            <a:srgbClr val="9AA4B2"/>
                          </a:solidFill>
                          <a:latin typeface="Arial"/>
                        </a:defRPr>
                      </a:pPr>
                      <a:r>
                        <a:t>(Integrated)</a:t>
                      </a:r>
                    </a:p>
                  </a:txBody>
                  <a:tcPr anchor="ctr">
                    <a:solidFill>
                      <a:srgbClr val="171F33"/>
                    </a:solidFill>
                  </a:tcPr>
                </a:tc>
                <a:tc>
                  <a:txBody>
                    <a:bodyPr wrap="square" lIns="73152" rIns="73152" tIns="54864" bIns="54864"/>
                    <a:lstStyle/>
                    <a:p>
                      <a:pPr>
                        <a:defRPr sz="950">
                          <a:solidFill>
                            <a:srgbClr val="9AA4B2"/>
                          </a:solidFill>
                          <a:latin typeface="Arial"/>
                        </a:defRPr>
                      </a:pPr>
                      <a:r>
                        <a:t>Tidak ada data ganda.</a:t>
                      </a:r>
                    </a:p>
                    <a:p>
                      <a:pPr>
                        <a:defRPr sz="950">
                          <a:solidFill>
                            <a:srgbClr val="9AA4B2"/>
                          </a:solidFill>
                          <a:latin typeface="Arial"/>
                        </a:defRPr>
                      </a:pPr>
                      <a:r>
                        <a:t>(Contoh: satu sumber data mahasiswa).</a:t>
                      </a:r>
                    </a:p>
                  </a:txBody>
                  <a:tcPr anchor="ctr">
                    <a:solidFill>
                      <a:srgbClr val="171F33"/>
                    </a:solidFill>
                  </a:tcPr>
                </a:tc>
                <a:tc>
                  <a:txBody>
                    <a:bodyPr wrap="square" lIns="73152" rIns="73152" tIns="54864" bIns="54864"/>
                    <a:lstStyle/>
                    <a:p>
                      <a:pPr>
                        <a:defRPr sz="950">
                          <a:solidFill>
                            <a:srgbClr val="F8FAFC"/>
                          </a:solidFill>
                          <a:latin typeface="Arial"/>
                        </a:defRPr>
                      </a:pPr>
                      <a:r>
                        <a:t>• Single Source of Truth (1 akun terhubung ke e-commerce, ShopeePay, &amp; Food).</a:t>
                      </a:r>
                    </a:p>
                    <a:p>
                      <a:pPr>
                        <a:defRPr sz="950">
                          <a:solidFill>
                            <a:srgbClr val="F8FAFC"/>
                          </a:solidFill>
                          <a:latin typeface="Arial"/>
                        </a:defRPr>
                      </a:pPr>
                      <a:r>
                        <a:t>• Stok produk terpotong serentak saat order.</a:t>
                      </a:r>
                    </a:p>
                  </a:txBody>
                  <a:tcPr anchor="ctr">
                    <a:solidFill>
                      <a:srgbClr val="171F33"/>
                    </a:solidFill>
                  </a:tcPr>
                </a:tc>
                <a:tc>
                  <a:txBody>
                    <a:bodyPr wrap="square" lIns="73152" rIns="73152" tIns="54864" bIns="54864"/>
                    <a:lstStyle/>
                    <a:p>
                      <a:pPr>
                        <a:defRPr sz="950" b="1">
                          <a:solidFill>
                            <a:srgbClr val="EE4D2D"/>
                          </a:solidFill>
                          <a:latin typeface="Arial"/>
                        </a:defRPr>
                      </a:pPr>
                      <a:r>
                        <a:t>[Sangat Unggul]</a:t>
                      </a:r>
                    </a:p>
                    <a:p>
                      <a:pPr>
                        <a:defRPr sz="950" b="1">
                          <a:solidFill>
                            <a:srgbClr val="EE4D2D"/>
                          </a:solidFill>
                          <a:latin typeface="Arial"/>
                        </a:defRPr>
                      </a:pPr>
                      <a:r>
                        <a:t>Mencegah overselling &amp; ketidaksinkronan stok fiktif.</a:t>
                      </a:r>
                    </a:p>
                  </a:txBody>
                  <a:tcPr anchor="ctr">
                    <a:solidFill>
                      <a:srgbClr val="171F33"/>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l">
              <a:spcAft>
                <a:spcPts val="400"/>
              </a:spcAft>
              <a:defRPr sz="1100" b="1">
                <a:solidFill>
                  <a:srgbClr val="EE4D2D"/>
                </a:solidFill>
                <a:latin typeface="Arial"/>
              </a:defRPr>
            </a:pPr>
            <a:r>
              <a:t>TABEL ANALISIS 2 (BAGIAN 2) · PRINSIP PERANCANGAN SISTEM INFORMASI</a:t>
            </a:r>
          </a:p>
          <a:p>
            <a:pPr algn="l">
              <a:defRPr sz="2200" b="1">
                <a:solidFill>
                  <a:srgbClr val="F8FAFC"/>
                </a:solidFill>
                <a:latin typeface="Arial"/>
              </a:defRPr>
            </a:pPr>
            <a:r>
              <a:t>Matriks Analisis Prinsip 4, 5, dan 6 pada Shopee</a:t>
            </a:r>
          </a:p>
        </p:txBody>
      </p:sp>
      <p:graphicFrame>
        <p:nvGraphicFramePr>
          <p:cNvPr id="3" name="Table 2"/>
          <p:cNvGraphicFramePr>
            <a:graphicFrameLocks noGrp="1"/>
          </p:cNvGraphicFramePr>
          <p:nvPr/>
        </p:nvGraphicFramePr>
        <p:xfrm>
          <a:off x="731520" y="1463040"/>
          <a:ext cx="10728655" cy="4846320"/>
        </p:xfrm>
        <a:graphic>
          <a:graphicData uri="http://schemas.openxmlformats.org/drawingml/2006/table">
            <a:tbl>
              <a:tblPr firstRow="1" bandRow="1">
                <a:tableStyleId>{5C22544A-7EE6-4342-B048-85BDC9FD1C3A}</a:tableStyleId>
              </a:tblPr>
              <a:tblGrid>
                <a:gridCol w="548640"/>
                <a:gridCol w="2011680"/>
                <a:gridCol w="2651760"/>
                <a:gridCol w="3017520"/>
                <a:gridCol w="2499055"/>
              </a:tblGrid>
              <a:tr h="1211580">
                <a:tc>
                  <a:txBody>
                    <a:bodyPr/>
                    <a:lstStyle/>
                    <a:p>
                      <a:pPr algn="l">
                        <a:defRPr b="1" sz="1050">
                          <a:solidFill>
                            <a:srgbClr val="FF7A45"/>
                          </a:solidFill>
                          <a:latin typeface="Arial"/>
                        </a:defRPr>
                      </a:pPr>
                      <a:r>
                        <a:t>No</a:t>
                      </a:r>
                    </a:p>
                  </a:txBody>
                  <a:tcPr anchor="ctr">
                    <a:solidFill>
                      <a:srgbClr val="1C263D"/>
                    </a:solidFill>
                  </a:tcPr>
                </a:tc>
                <a:tc>
                  <a:txBody>
                    <a:bodyPr/>
                    <a:lstStyle/>
                    <a:p>
                      <a:pPr algn="l">
                        <a:defRPr b="1" sz="1050">
                          <a:solidFill>
                            <a:srgbClr val="FF7A45"/>
                          </a:solidFill>
                          <a:latin typeface="Arial"/>
                        </a:defRPr>
                      </a:pPr>
                      <a:r>
                        <a:t>Prinsip Perancangan SI</a:t>
                      </a:r>
                    </a:p>
                  </a:txBody>
                  <a:tcPr anchor="ctr">
                    <a:solidFill>
                      <a:srgbClr val="1C263D"/>
                    </a:solidFill>
                  </a:tcPr>
                </a:tc>
                <a:tc>
                  <a:txBody>
                    <a:bodyPr/>
                    <a:lstStyle/>
                    <a:p>
                      <a:pPr algn="l">
                        <a:defRPr b="1" sz="1050">
                          <a:solidFill>
                            <a:srgbClr val="FF7A45"/>
                          </a:solidFill>
                          <a:latin typeface="Arial"/>
                        </a:defRPr>
                      </a:pPr>
                      <a:r>
                        <a:t>Definisi Teori Kuliah</a:t>
                      </a:r>
                    </a:p>
                  </a:txBody>
                  <a:tcPr anchor="ctr">
                    <a:solidFill>
                      <a:srgbClr val="1C263D"/>
                    </a:solidFill>
                  </a:tcPr>
                </a:tc>
                <a:tc>
                  <a:txBody>
                    <a:bodyPr/>
                    <a:lstStyle/>
                    <a:p>
                      <a:pPr algn="l">
                        <a:defRPr b="1" sz="1050">
                          <a:solidFill>
                            <a:srgbClr val="FF7A45"/>
                          </a:solidFill>
                          <a:latin typeface="Arial"/>
                        </a:defRPr>
                      </a:pPr>
                      <a:r>
                        <a:t>Implementasi Nyata pada Shopee</a:t>
                      </a:r>
                    </a:p>
                  </a:txBody>
                  <a:tcPr anchor="ctr">
                    <a:solidFill>
                      <a:srgbClr val="1C263D"/>
                    </a:solidFill>
                  </a:tcPr>
                </a:tc>
                <a:tc>
                  <a:txBody>
                    <a:bodyPr/>
                    <a:lstStyle/>
                    <a:p>
                      <a:pPr algn="l">
                        <a:defRPr b="1" sz="1050">
                          <a:solidFill>
                            <a:srgbClr val="FF7A45"/>
                          </a:solidFill>
                          <a:latin typeface="Arial"/>
                        </a:defRPr>
                      </a:pPr>
                      <a:r>
                        <a:t>Evaluasi Kritis</a:t>
                      </a:r>
                    </a:p>
                  </a:txBody>
                  <a:tcPr anchor="ctr">
                    <a:solidFill>
                      <a:srgbClr val="1C263D"/>
                    </a:solidFill>
                  </a:tcPr>
                </a:tc>
              </a:tr>
              <a:tr h="1211580">
                <a:tc>
                  <a:txBody>
                    <a:bodyPr wrap="square" lIns="73152" rIns="73152" tIns="54864" bIns="54864"/>
                    <a:lstStyle/>
                    <a:p>
                      <a:pPr>
                        <a:defRPr sz="950" b="1">
                          <a:solidFill>
                            <a:srgbClr val="F8FAFC"/>
                          </a:solidFill>
                          <a:latin typeface="Arial"/>
                        </a:defRPr>
                      </a:pPr>
                      <a:r>
                        <a:t>4</a:t>
                      </a:r>
                    </a:p>
                  </a:txBody>
                  <a:tcPr anchor="ctr">
                    <a:solidFill>
                      <a:srgbClr val="171F33"/>
                    </a:solidFill>
                  </a:tcPr>
                </a:tc>
                <a:tc>
                  <a:txBody>
                    <a:bodyPr wrap="square" lIns="73152" rIns="73152" tIns="54864" bIns="54864"/>
                    <a:lstStyle/>
                    <a:p>
                      <a:pPr>
                        <a:defRPr sz="950">
                          <a:solidFill>
                            <a:srgbClr val="9AA4B2"/>
                          </a:solidFill>
                          <a:latin typeface="Arial"/>
                        </a:defRPr>
                      </a:pPr>
                      <a:r>
                        <a:t>Aman</a:t>
                      </a:r>
                    </a:p>
                    <a:p>
                      <a:pPr>
                        <a:defRPr sz="950">
                          <a:solidFill>
                            <a:srgbClr val="9AA4B2"/>
                          </a:solidFill>
                          <a:latin typeface="Arial"/>
                        </a:defRPr>
                      </a:pPr>
                      <a:r>
                        <a:t>(Security)</a:t>
                      </a:r>
                    </a:p>
                  </a:txBody>
                  <a:tcPr anchor="ctr">
                    <a:solidFill>
                      <a:srgbClr val="171F33"/>
                    </a:solidFill>
                  </a:tcPr>
                </a:tc>
                <a:tc>
                  <a:txBody>
                    <a:bodyPr wrap="square" lIns="73152" rIns="73152" tIns="54864" bIns="54864"/>
                    <a:lstStyle/>
                    <a:p>
                      <a:pPr>
                        <a:defRPr sz="950">
                          <a:solidFill>
                            <a:srgbClr val="9AA4B2"/>
                          </a:solidFill>
                          <a:latin typeface="Arial"/>
                        </a:defRPr>
                      </a:pPr>
                      <a:r>
                        <a:t>Hak akses sesuai peran.</a:t>
                      </a:r>
                    </a:p>
                    <a:p>
                      <a:pPr>
                        <a:defRPr sz="950">
                          <a:solidFill>
                            <a:srgbClr val="9AA4B2"/>
                          </a:solidFill>
                          <a:latin typeface="Arial"/>
                        </a:defRPr>
                      </a:pPr>
                      <a:r>
                        <a:t>(Contoh: mahasiswa, dosen, admin berbeda).</a:t>
                      </a:r>
                    </a:p>
                  </a:txBody>
                  <a:tcPr anchor="ctr">
                    <a:solidFill>
                      <a:srgbClr val="171F33"/>
                    </a:solidFill>
                  </a:tcPr>
                </a:tc>
                <a:tc>
                  <a:txBody>
                    <a:bodyPr wrap="square" lIns="73152" rIns="73152" tIns="54864" bIns="54864"/>
                    <a:lstStyle/>
                    <a:p>
                      <a:pPr>
                        <a:defRPr sz="950">
                          <a:solidFill>
                            <a:srgbClr val="F8FAFC"/>
                          </a:solidFill>
                          <a:latin typeface="Arial"/>
                        </a:defRPr>
                      </a:pPr>
                      <a:r>
                        <a:t>• Role-Based Access: Pembeli, Merchant Seller Centre, Kurir SPX, Admin internal.</a:t>
                      </a:r>
                    </a:p>
                    <a:p>
                      <a:pPr>
                        <a:defRPr sz="950">
                          <a:solidFill>
                            <a:srgbClr val="F8FAFC"/>
                          </a:solidFill>
                          <a:latin typeface="Arial"/>
                        </a:defRPr>
                      </a:pPr>
                      <a:r>
                        <a:t>• Enkripsi TLS 1.3, PIN ShopeePay, &amp; 2FA.</a:t>
                      </a:r>
                    </a:p>
                  </a:txBody>
                  <a:tcPr anchor="ctr">
                    <a:solidFill>
                      <a:srgbClr val="171F33"/>
                    </a:solidFill>
                  </a:tcPr>
                </a:tc>
                <a:tc>
                  <a:txBody>
                    <a:bodyPr wrap="square" lIns="73152" rIns="73152" tIns="54864" bIns="54864"/>
                    <a:lstStyle/>
                    <a:p>
                      <a:pPr>
                        <a:defRPr sz="950" b="1">
                          <a:solidFill>
                            <a:srgbClr val="EE4D2D"/>
                          </a:solidFill>
                          <a:latin typeface="Arial"/>
                        </a:defRPr>
                      </a:pPr>
                      <a:r>
                        <a:t>[Server Aman]</a:t>
                      </a:r>
                    </a:p>
                    <a:p>
                      <a:pPr>
                        <a:defRPr sz="950" b="1">
                          <a:solidFill>
                            <a:srgbClr val="EE4D2D"/>
                          </a:solidFill>
                          <a:latin typeface="Arial"/>
                        </a:defRPr>
                      </a:pPr>
                      <a:r>
                        <a:t>Infrastruktur aman, namun rentan penipuan phising/OTP di sisi pengguna.</a:t>
                      </a:r>
                    </a:p>
                  </a:txBody>
                  <a:tcPr anchor="ctr">
                    <a:solidFill>
                      <a:srgbClr val="171F33"/>
                    </a:solidFill>
                  </a:tcPr>
                </a:tc>
              </a:tr>
              <a:tr h="1211580">
                <a:tc>
                  <a:txBody>
                    <a:bodyPr wrap="square" lIns="73152" rIns="73152" tIns="54864" bIns="54864"/>
                    <a:lstStyle/>
                    <a:p>
                      <a:pPr>
                        <a:defRPr sz="950" b="1">
                          <a:solidFill>
                            <a:srgbClr val="F8FAFC"/>
                          </a:solidFill>
                          <a:latin typeface="Arial"/>
                        </a:defRPr>
                      </a:pPr>
                      <a:r>
                        <a:t>5</a:t>
                      </a:r>
                    </a:p>
                  </a:txBody>
                  <a:tcPr anchor="ctr">
                    <a:solidFill>
                      <a:srgbClr val="1E2943"/>
                    </a:solidFill>
                  </a:tcPr>
                </a:tc>
                <a:tc>
                  <a:txBody>
                    <a:bodyPr wrap="square" lIns="73152" rIns="73152" tIns="54864" bIns="54864"/>
                    <a:lstStyle/>
                    <a:p>
                      <a:pPr>
                        <a:defRPr sz="950">
                          <a:solidFill>
                            <a:srgbClr val="9AA4B2"/>
                          </a:solidFill>
                          <a:latin typeface="Arial"/>
                        </a:defRPr>
                      </a:pPr>
                      <a:r>
                        <a:t>Mudah Dipelihara</a:t>
                      </a:r>
                    </a:p>
                    <a:p>
                      <a:pPr>
                        <a:defRPr sz="950">
                          <a:solidFill>
                            <a:srgbClr val="9AA4B2"/>
                          </a:solidFill>
                          <a:latin typeface="Arial"/>
                        </a:defRPr>
                      </a:pPr>
                      <a:r>
                        <a:t>(Maintainable)</a:t>
                      </a:r>
                    </a:p>
                  </a:txBody>
                  <a:tcPr anchor="ctr">
                    <a:solidFill>
                      <a:srgbClr val="1E2943"/>
                    </a:solidFill>
                  </a:tcPr>
                </a:tc>
                <a:tc>
                  <a:txBody>
                    <a:bodyPr wrap="square" lIns="73152" rIns="73152" tIns="54864" bIns="54864"/>
                    <a:lstStyle/>
                    <a:p>
                      <a:pPr>
                        <a:defRPr sz="950">
                          <a:solidFill>
                            <a:srgbClr val="9AA4B2"/>
                          </a:solidFill>
                          <a:latin typeface="Arial"/>
                        </a:defRPr>
                      </a:pPr>
                      <a:r>
                        <a:t>Mudah diperbaiki dan diperbarui.</a:t>
                      </a:r>
                    </a:p>
                    <a:p>
                      <a:pPr>
                        <a:defRPr sz="950">
                          <a:solidFill>
                            <a:srgbClr val="9AA4B2"/>
                          </a:solidFill>
                          <a:latin typeface="Arial"/>
                        </a:defRPr>
                      </a:pPr>
                      <a:r>
                        <a:t>(Contoh: kode &amp; dokumentasi rapi).</a:t>
                      </a:r>
                    </a:p>
                  </a:txBody>
                  <a:tcPr anchor="ctr">
                    <a:solidFill>
                      <a:srgbClr val="1E2943"/>
                    </a:solidFill>
                  </a:tcPr>
                </a:tc>
                <a:tc>
                  <a:txBody>
                    <a:bodyPr wrap="square" lIns="73152" rIns="73152" tIns="54864" bIns="54864"/>
                    <a:lstStyle/>
                    <a:p>
                      <a:pPr>
                        <a:defRPr sz="950">
                          <a:solidFill>
                            <a:srgbClr val="F8FAFC"/>
                          </a:solidFill>
                          <a:latin typeface="Arial"/>
                        </a:defRPr>
                      </a:pPr>
                      <a:r>
                        <a:t>• Arsitektur Microservices independen.</a:t>
                      </a:r>
                    </a:p>
                    <a:p>
                      <a:pPr>
                        <a:defRPr sz="950">
                          <a:solidFill>
                            <a:srgbClr val="F8FAFC"/>
                          </a:solidFill>
                          <a:latin typeface="Arial"/>
                        </a:defRPr>
                      </a:pPr>
                      <a:r>
                        <a:t>• Update fitur ShopeeFood tanpa mematikan modul transaksi belanja inti.</a:t>
                      </a:r>
                    </a:p>
                  </a:txBody>
                  <a:tcPr anchor="ctr">
                    <a:solidFill>
                      <a:srgbClr val="1E2943"/>
                    </a:solidFill>
                  </a:tcPr>
                </a:tc>
                <a:tc>
                  <a:txBody>
                    <a:bodyPr wrap="square" lIns="73152" rIns="73152" tIns="54864" bIns="54864"/>
                    <a:lstStyle/>
                    <a:p>
                      <a:pPr>
                        <a:defRPr sz="950" b="1">
                          <a:solidFill>
                            <a:srgbClr val="EE4D2D"/>
                          </a:solidFill>
                          <a:latin typeface="Arial"/>
                        </a:defRPr>
                      </a:pPr>
                      <a:r>
                        <a:t>[Tinggi]</a:t>
                      </a:r>
                    </a:p>
                    <a:p>
                      <a:pPr>
                        <a:defRPr sz="950" b="1">
                          <a:solidFill>
                            <a:srgbClr val="EE4D2D"/>
                          </a:solidFill>
                          <a:latin typeface="Arial"/>
                        </a:defRPr>
                      </a:pPr>
                      <a:r>
                        <a:t>Pembaruan bug mingguan kontinu via modern CI/CD pipeline.</a:t>
                      </a:r>
                    </a:p>
                  </a:txBody>
                  <a:tcPr anchor="ctr">
                    <a:solidFill>
                      <a:srgbClr val="1E2943"/>
                    </a:solidFill>
                  </a:tcPr>
                </a:tc>
              </a:tr>
              <a:tr h="1211580">
                <a:tc>
                  <a:txBody>
                    <a:bodyPr wrap="square" lIns="73152" rIns="73152" tIns="54864" bIns="54864"/>
                    <a:lstStyle/>
                    <a:p>
                      <a:pPr>
                        <a:defRPr sz="950" b="1">
                          <a:solidFill>
                            <a:srgbClr val="F8FAFC"/>
                          </a:solidFill>
                          <a:latin typeface="Arial"/>
                        </a:defRPr>
                      </a:pPr>
                      <a:r>
                        <a:t>6</a:t>
                      </a:r>
                    </a:p>
                  </a:txBody>
                  <a:tcPr anchor="ctr">
                    <a:solidFill>
                      <a:srgbClr val="171F33"/>
                    </a:solidFill>
                  </a:tcPr>
                </a:tc>
                <a:tc>
                  <a:txBody>
                    <a:bodyPr wrap="square" lIns="73152" rIns="73152" tIns="54864" bIns="54864"/>
                    <a:lstStyle/>
                    <a:p>
                      <a:pPr>
                        <a:defRPr sz="950">
                          <a:solidFill>
                            <a:srgbClr val="9AA4B2"/>
                          </a:solidFill>
                          <a:latin typeface="Arial"/>
                        </a:defRPr>
                      </a:pPr>
                      <a:r>
                        <a:t>Dapat Dikembangkan</a:t>
                      </a:r>
                    </a:p>
                    <a:p>
                      <a:pPr>
                        <a:defRPr sz="950">
                          <a:solidFill>
                            <a:srgbClr val="9AA4B2"/>
                          </a:solidFill>
                          <a:latin typeface="Arial"/>
                        </a:defRPr>
                      </a:pPr>
                      <a:r>
                        <a:t>(Scalable)</a:t>
                      </a:r>
                    </a:p>
                  </a:txBody>
                  <a:tcPr anchor="ctr">
                    <a:solidFill>
                      <a:srgbClr val="171F33"/>
                    </a:solidFill>
                  </a:tcPr>
                </a:tc>
                <a:tc>
                  <a:txBody>
                    <a:bodyPr wrap="square" lIns="73152" rIns="73152" tIns="54864" bIns="54864"/>
                    <a:lstStyle/>
                    <a:p>
                      <a:pPr>
                        <a:defRPr sz="950">
                          <a:solidFill>
                            <a:srgbClr val="9AA4B2"/>
                          </a:solidFill>
                          <a:latin typeface="Arial"/>
                        </a:defRPr>
                      </a:pPr>
                      <a:r>
                        <a:t>Siap bertumbuh.</a:t>
                      </a:r>
                    </a:p>
                    <a:p>
                      <a:pPr>
                        <a:defRPr sz="950">
                          <a:solidFill>
                            <a:srgbClr val="9AA4B2"/>
                          </a:solidFill>
                          <a:latin typeface="Arial"/>
                        </a:defRPr>
                      </a:pPr>
                      <a:r>
                        <a:t>(Contoh: tetap lancar dari 1.000 ke 5.000 mahasiswa).</a:t>
                      </a:r>
                    </a:p>
                  </a:txBody>
                  <a:tcPr anchor="ctr">
                    <a:solidFill>
                      <a:srgbClr val="171F33"/>
                    </a:solidFill>
                  </a:tcPr>
                </a:tc>
                <a:tc>
                  <a:txBody>
                    <a:bodyPr wrap="square" lIns="73152" rIns="73152" tIns="54864" bIns="54864"/>
                    <a:lstStyle/>
                    <a:p>
                      <a:pPr>
                        <a:defRPr sz="950">
                          <a:solidFill>
                            <a:srgbClr val="F8FAFC"/>
                          </a:solidFill>
                          <a:latin typeface="Arial"/>
                        </a:defRPr>
                      </a:pPr>
                      <a:r>
                        <a:t>• Cloud Auto-Scaling (AWS &amp; Tencent Cloud).</a:t>
                      </a:r>
                    </a:p>
                    <a:p>
                      <a:pPr>
                        <a:defRPr sz="950">
                          <a:solidFill>
                            <a:srgbClr val="F8FAFC"/>
                          </a:solidFill>
                          <a:latin typeface="Arial"/>
                        </a:defRPr>
                      </a:pPr>
                      <a:r>
                        <a:t>• Database terdistribusi (TiDB, Redis Cache, &amp; Message Queue Kafka).</a:t>
                      </a:r>
                    </a:p>
                  </a:txBody>
                  <a:tcPr anchor="ctr">
                    <a:solidFill>
                      <a:srgbClr val="171F33"/>
                    </a:solidFill>
                  </a:tcPr>
                </a:tc>
                <a:tc>
                  <a:txBody>
                    <a:bodyPr wrap="square" lIns="73152" rIns="73152" tIns="54864" bIns="54864"/>
                    <a:lstStyle/>
                    <a:p>
                      <a:pPr>
                        <a:defRPr sz="950" b="1">
                          <a:solidFill>
                            <a:srgbClr val="EE4D2D"/>
                          </a:solidFill>
                          <a:latin typeface="Arial"/>
                        </a:defRPr>
                      </a:pPr>
                      <a:r>
                        <a:t>[Sangat Tangguh]</a:t>
                      </a:r>
                    </a:p>
                    <a:p>
                      <a:pPr>
                        <a:defRPr sz="950" b="1">
                          <a:solidFill>
                            <a:srgbClr val="EE4D2D"/>
                          </a:solidFill>
                          <a:latin typeface="Arial"/>
                        </a:defRPr>
                      </a:pPr>
                      <a:r>
                        <a:t>Menahan lonjakan puluhan juta pesanan serentak promo 11.11.</a:t>
                      </a:r>
                    </a:p>
                  </a:txBody>
                  <a:tcPr anchor="ctr">
                    <a:solidFill>
                      <a:srgbClr val="171F33"/>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l">
              <a:spcAft>
                <a:spcPts val="400"/>
              </a:spcAft>
              <a:defRPr sz="1100" b="1">
                <a:solidFill>
                  <a:srgbClr val="EE4D2D"/>
                </a:solidFill>
                <a:latin typeface="Arial"/>
              </a:defRPr>
            </a:pPr>
            <a:r>
              <a:t>BEDAH KASUS PERTANYAAN DOSEN</a:t>
            </a:r>
          </a:p>
          <a:p>
            <a:pPr algn="l">
              <a:defRPr sz="2200" b="1">
                <a:solidFill>
                  <a:srgbClr val="F8FAFC"/>
                </a:solidFill>
                <a:latin typeface="Arial"/>
              </a:defRPr>
            </a:pPr>
            <a:r>
              <a:t>"Aplikasi Canggih tapi Pengguna Kembali ke Kertas: Prinsip Mana yang Dilanggar?"</a:t>
            </a:r>
          </a:p>
        </p:txBody>
      </p:sp>
      <p:sp>
        <p:nvSpPr>
          <p:cNvPr id="3" name="Rounded Rectangle 2"/>
          <p:cNvSpPr/>
          <p:nvPr/>
        </p:nvSpPr>
        <p:spPr>
          <a:xfrm>
            <a:off x="731520" y="1463040"/>
            <a:ext cx="5230368" cy="4846320"/>
          </a:xfrm>
          <a:prstGeom prst="roundRect">
            <a:avLst/>
          </a:prstGeom>
          <a:solidFill>
            <a:srgbClr val="171F33"/>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45920"/>
            <a:ext cx="4681728" cy="4389120"/>
          </a:xfrm>
          <a:prstGeom prst="rect">
            <a:avLst/>
          </a:prstGeom>
          <a:noFill/>
        </p:spPr>
        <p:txBody>
          <a:bodyPr wrap="square">
            <a:spAutoFit/>
          </a:bodyPr>
          <a:lstStyle/>
          <a:p>
            <a:pPr>
              <a:spcAft>
                <a:spcPts val="1600"/>
              </a:spcAft>
              <a:defRPr b="1" sz="1300">
                <a:solidFill>
                  <a:srgbClr val="EF4444"/>
                </a:solidFill>
                <a:latin typeface="Arial"/>
              </a:defRPr>
            </a:pPr>
            <a:r>
              <a:t>⚠️ 2 PRINSIP UTAMA YANG DILANGGAR</a:t>
            </a:r>
          </a:p>
          <a:p>
            <a:pPr>
              <a:defRPr b="1" sz="1300">
                <a:solidFill>
                  <a:srgbClr val="F8FAFC"/>
                </a:solidFill>
              </a:defRPr>
            </a:pPr>
            <a:r>
              <a:t>1. Prinsip "Sederhana" (Simplicity):</a:t>
            </a:r>
          </a:p>
          <a:p>
            <a:pPr>
              <a:spcAft>
                <a:spcPts val="1600"/>
              </a:spcAft>
              <a:defRPr sz="1150">
                <a:solidFill>
                  <a:srgbClr val="9AA4B2"/>
                </a:solidFill>
              </a:defRPr>
            </a:pPr>
            <a:r>
              <a:t>Alur kerja di aplikasi terlalu banyak langkah, berbelit-belit, dan lambat dibandingkan kecepatan mencatat instan di kertas.</a:t>
            </a:r>
          </a:p>
          <a:p>
            <a:pPr>
              <a:defRPr b="1" sz="1300">
                <a:solidFill>
                  <a:srgbClr val="F8FAFC"/>
                </a:solidFill>
              </a:defRPr>
            </a:pPr>
            <a:r>
              <a:t>2. Prinsip "Berorientasi Pengguna" (User-Oriented):</a:t>
            </a:r>
          </a:p>
          <a:p>
            <a:pPr>
              <a:defRPr sz="1150">
                <a:solidFill>
                  <a:srgbClr val="9AA4B2"/>
                </a:solidFill>
              </a:defRPr>
            </a:pPr>
            <a:r>
              <a:t>Sistem dibangun berdasarkan asumsi canggih pengembang (developer-centric), bukan kemudahan alur kerja nyata pengguna di lapangan (user-centric).</a:t>
            </a:r>
          </a:p>
        </p:txBody>
      </p:sp>
      <p:sp>
        <p:nvSpPr>
          <p:cNvPr id="5" name="Rounded Rectangle 4"/>
          <p:cNvSpPr/>
          <p:nvPr/>
        </p:nvSpPr>
        <p:spPr>
          <a:xfrm>
            <a:off x="6217920" y="1463040"/>
            <a:ext cx="5230368" cy="4846320"/>
          </a:xfrm>
          <a:prstGeom prst="roundRect">
            <a:avLst/>
          </a:prstGeom>
          <a:solidFill>
            <a:srgbClr val="171F33"/>
          </a:solidFill>
          <a:ln w="19050">
            <a:solidFill>
              <a:srgbClr val="EE4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645920"/>
            <a:ext cx="4681728" cy="4389120"/>
          </a:xfrm>
          <a:prstGeom prst="rect">
            <a:avLst/>
          </a:prstGeom>
          <a:noFill/>
        </p:spPr>
        <p:txBody>
          <a:bodyPr wrap="square">
            <a:spAutoFit/>
          </a:bodyPr>
          <a:lstStyle/>
          <a:p>
            <a:pPr>
              <a:spcAft>
                <a:spcPts val="1600"/>
              </a:spcAft>
              <a:defRPr b="1" sz="1300">
                <a:solidFill>
                  <a:srgbClr val="EE4D2D"/>
                </a:solidFill>
                <a:latin typeface="Arial"/>
              </a:defRPr>
            </a:pPr>
            <a:r>
              <a:t>💡 CONTOH KONKRET PADA EKOSISTEM SHOPEE</a:t>
            </a:r>
          </a:p>
          <a:p>
            <a:pPr>
              <a:defRPr b="1" sz="1300">
                <a:solidFill>
                  <a:srgbClr val="F8FAFC"/>
                </a:solidFill>
              </a:defRPr>
            </a:pPr>
            <a:r>
              <a:t>Kasus Nyata Pedagang UMKM Tradisional:</a:t>
            </a:r>
          </a:p>
          <a:p>
            <a:pPr>
              <a:spcAft>
                <a:spcPts val="2000"/>
              </a:spcAft>
              <a:defRPr sz="1150">
                <a:solidFill>
                  <a:srgbClr val="9AA4B2"/>
                </a:solidFill>
              </a:defRPr>
            </a:pPr>
            <a:r>
              <a:t>Banyak pedagang pasar offline enggan beralih ke pembukuan digital Shopee karena menu voucher, perhitungan biaya admin, dan skema komisi dirasa terlalu rumit dibandingkan menulis nota manual di kertas.</a:t>
            </a:r>
          </a:p>
          <a:p>
            <a:pPr>
              <a:defRPr b="1" sz="1300">
                <a:solidFill>
                  <a:srgbClr val="10B981"/>
                </a:solidFill>
              </a:defRPr>
            </a:pPr>
            <a:r>
              <a:t>Pelajaran Kunci Rekayasa SI:</a:t>
            </a:r>
          </a:p>
          <a:p>
            <a:pPr>
              <a:defRPr sz="1200">
                <a:solidFill>
                  <a:srgbClr val="F8FAFC"/>
                </a:solidFill>
              </a:defRPr>
            </a:pPr>
            <a:r>
              <a:t>"Secanggih apa pun teknologi Cloud/AI, jika melanggar prinsip Sederhana dan User-Oriented, sistem pada akhirnya akan ditinggalkan oleh penggunanya."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l">
              <a:spcAft>
                <a:spcPts val="400"/>
              </a:spcAft>
              <a:defRPr sz="1100" b="1">
                <a:solidFill>
                  <a:srgbClr val="EE4D2D"/>
                </a:solidFill>
                <a:latin typeface="Arial"/>
              </a:defRPr>
            </a:pPr>
            <a:r>
              <a:t>TABEL ANALISIS 3 · TAKSONOMI SISTEM INFORMASI</a:t>
            </a:r>
          </a:p>
          <a:p>
            <a:pPr algn="l">
              <a:defRPr sz="2200" b="1">
                <a:solidFill>
                  <a:srgbClr val="F8FAFC"/>
                </a:solidFill>
                <a:latin typeface="Arial"/>
              </a:defRPr>
            </a:pPr>
            <a:r>
              <a:t>Matriks Klasifikasi 4 Jenis Sistem Informasi pada Shopee</a:t>
            </a:r>
          </a:p>
        </p:txBody>
      </p:sp>
      <p:graphicFrame>
        <p:nvGraphicFramePr>
          <p:cNvPr id="3" name="Table 2"/>
          <p:cNvGraphicFramePr>
            <a:graphicFrameLocks noGrp="1"/>
          </p:cNvGraphicFramePr>
          <p:nvPr/>
        </p:nvGraphicFramePr>
        <p:xfrm>
          <a:off x="731520" y="1463040"/>
          <a:ext cx="10728655" cy="4846320"/>
        </p:xfrm>
        <a:graphic>
          <a:graphicData uri="http://schemas.openxmlformats.org/drawingml/2006/table">
            <a:tbl>
              <a:tblPr firstRow="1" bandRow="1">
                <a:tableStyleId>{5C22544A-7EE6-4342-B048-85BDC9FD1C3A}</a:tableStyleId>
              </a:tblPr>
              <a:tblGrid>
                <a:gridCol w="1920240"/>
                <a:gridCol w="1737360"/>
                <a:gridCol w="2560320"/>
                <a:gridCol w="2377440"/>
                <a:gridCol w="2133295"/>
              </a:tblGrid>
              <a:tr h="969264">
                <a:tc>
                  <a:txBody>
                    <a:bodyPr/>
                    <a:lstStyle/>
                    <a:p>
                      <a:pPr algn="l">
                        <a:defRPr b="1" sz="1050">
                          <a:solidFill>
                            <a:srgbClr val="FF7A45"/>
                          </a:solidFill>
                          <a:latin typeface="Arial"/>
                        </a:defRPr>
                      </a:pPr>
                      <a:r>
                        <a:t>Jenis Sistem Informasi</a:t>
                      </a:r>
                    </a:p>
                  </a:txBody>
                  <a:tcPr anchor="ctr">
                    <a:solidFill>
                      <a:srgbClr val="1C263D"/>
                    </a:solidFill>
                  </a:tcPr>
                </a:tc>
                <a:tc>
                  <a:txBody>
                    <a:bodyPr/>
                    <a:lstStyle/>
                    <a:p>
                      <a:pPr algn="l">
                        <a:defRPr b="1" sz="1050">
                          <a:solidFill>
                            <a:srgbClr val="FF7A45"/>
                          </a:solidFill>
                          <a:latin typeface="Arial"/>
                        </a:defRPr>
                      </a:pPr>
                      <a:r>
                        <a:t>Level / Pengguna</a:t>
                      </a:r>
                    </a:p>
                  </a:txBody>
                  <a:tcPr anchor="ctr">
                    <a:solidFill>
                      <a:srgbClr val="1C263D"/>
                    </a:solidFill>
                  </a:tcPr>
                </a:tc>
                <a:tc>
                  <a:txBody>
                    <a:bodyPr/>
                    <a:lstStyle/>
                    <a:p>
                      <a:pPr algn="l">
                        <a:defRPr b="1" sz="1050">
                          <a:solidFill>
                            <a:srgbClr val="FF7A45"/>
                          </a:solidFill>
                          <a:latin typeface="Arial"/>
                        </a:defRPr>
                      </a:pPr>
                      <a:r>
                        <a:t>Alasan Pengelompokan (Kaidah SI)</a:t>
                      </a:r>
                    </a:p>
                  </a:txBody>
                  <a:tcPr anchor="ctr">
                    <a:solidFill>
                      <a:srgbClr val="1C263D"/>
                    </a:solidFill>
                  </a:tcPr>
                </a:tc>
                <a:tc>
                  <a:txBody>
                    <a:bodyPr/>
                    <a:lstStyle/>
                    <a:p>
                      <a:pPr algn="l">
                        <a:defRPr b="1" sz="1050">
                          <a:solidFill>
                            <a:srgbClr val="FF7A45"/>
                          </a:solidFill>
                          <a:latin typeface="Arial"/>
                        </a:defRPr>
                      </a:pPr>
                      <a:r>
                        <a:t>Fitur &amp; Implementasi Nyata</a:t>
                      </a:r>
                    </a:p>
                  </a:txBody>
                  <a:tcPr anchor="ctr">
                    <a:solidFill>
                      <a:srgbClr val="1C263D"/>
                    </a:solidFill>
                  </a:tcPr>
                </a:tc>
                <a:tc>
                  <a:txBody>
                    <a:bodyPr/>
                    <a:lstStyle/>
                    <a:p>
                      <a:pPr algn="l">
                        <a:defRPr b="1" sz="1050">
                          <a:solidFill>
                            <a:srgbClr val="FF7A45"/>
                          </a:solidFill>
                          <a:latin typeface="Arial"/>
                        </a:defRPr>
                      </a:pPr>
                      <a:r>
                        <a:t>Dampak Bisnis</a:t>
                      </a:r>
                    </a:p>
                  </a:txBody>
                  <a:tcPr anchor="ctr">
                    <a:solidFill>
                      <a:srgbClr val="1C263D"/>
                    </a:solidFill>
                  </a:tcPr>
                </a:tc>
              </a:tr>
              <a:tr h="969264">
                <a:tc>
                  <a:txBody>
                    <a:bodyPr wrap="square" lIns="73152" rIns="73152" tIns="54864" bIns="54864"/>
                    <a:lstStyle/>
                    <a:p>
                      <a:pPr>
                        <a:defRPr sz="950" b="1">
                          <a:solidFill>
                            <a:srgbClr val="F8FAFC"/>
                          </a:solidFill>
                          <a:latin typeface="Arial"/>
                        </a:defRPr>
                      </a:pPr>
                      <a:r>
                        <a:t>1. TPS</a:t>
                      </a:r>
                    </a:p>
                    <a:p>
                      <a:pPr>
                        <a:defRPr sz="950" b="1">
                          <a:solidFill>
                            <a:srgbClr val="F8FAFC"/>
                          </a:solidFill>
                          <a:latin typeface="Arial"/>
                        </a:defRPr>
                      </a:pPr>
                      <a:r>
                        <a:t>(Transaction</a:t>
                      </a:r>
                    </a:p>
                    <a:p>
                      <a:pPr>
                        <a:defRPr sz="950" b="1">
                          <a:solidFill>
                            <a:srgbClr val="F8FAFC"/>
                          </a:solidFill>
                          <a:latin typeface="Arial"/>
                        </a:defRPr>
                      </a:pPr>
                      <a:r>
                        <a:t>Processing System)</a:t>
                      </a:r>
                    </a:p>
                  </a:txBody>
                  <a:tcPr anchor="ctr">
                    <a:solidFill>
                      <a:srgbClr val="171F33"/>
                    </a:solidFill>
                  </a:tcPr>
                </a:tc>
                <a:tc>
                  <a:txBody>
                    <a:bodyPr wrap="square" lIns="73152" rIns="73152" tIns="54864" bIns="54864"/>
                    <a:lstStyle/>
                    <a:p>
                      <a:pPr>
                        <a:defRPr sz="950">
                          <a:solidFill>
                            <a:srgbClr val="9AA4B2"/>
                          </a:solidFill>
                          <a:latin typeface="Arial"/>
                        </a:defRPr>
                      </a:pPr>
                      <a:r>
                        <a:t>Level Operasional</a:t>
                      </a:r>
                    </a:p>
                    <a:p>
                      <a:pPr>
                        <a:defRPr sz="950">
                          <a:solidFill>
                            <a:srgbClr val="9AA4B2"/>
                          </a:solidFill>
                          <a:latin typeface="Arial"/>
                        </a:defRPr>
                      </a:pPr>
                      <a:r>
                        <a:t>(Pembeli &amp; Kasir)</a:t>
                      </a:r>
                    </a:p>
                  </a:txBody>
                  <a:tcPr anchor="ctr">
                    <a:solidFill>
                      <a:srgbClr val="171F33"/>
                    </a:solidFill>
                  </a:tcPr>
                </a:tc>
                <a:tc>
                  <a:txBody>
                    <a:bodyPr wrap="square" lIns="73152" rIns="73152" tIns="54864" bIns="54864"/>
                    <a:lstStyle/>
                    <a:p>
                      <a:pPr>
                        <a:defRPr sz="950">
                          <a:solidFill>
                            <a:srgbClr val="9AA4B2"/>
                          </a:solidFill>
                          <a:latin typeface="Arial"/>
                        </a:defRPr>
                      </a:pPr>
                      <a:r>
                        <a:t>Memproses jutaan transaksi bersamaan dengan kepatuhan penuh kaidah ACID agar saldo dan stok akurat.</a:t>
                      </a:r>
                    </a:p>
                  </a:txBody>
                  <a:tcPr anchor="ctr">
                    <a:solidFill>
                      <a:srgbClr val="171F33"/>
                    </a:solidFill>
                  </a:tcPr>
                </a:tc>
                <a:tc>
                  <a:txBody>
                    <a:bodyPr wrap="square" lIns="73152" rIns="73152" tIns="54864" bIns="54864"/>
                    <a:lstStyle/>
                    <a:p>
                      <a:pPr>
                        <a:defRPr sz="950">
                          <a:solidFill>
                            <a:srgbClr val="F8FAFC"/>
                          </a:solidFill>
                          <a:latin typeface="Arial"/>
                        </a:defRPr>
                      </a:pPr>
                      <a:r>
                        <a:t>• Checkout &amp; potong saldo ShopeePay</a:t>
                      </a:r>
                    </a:p>
                    <a:p>
                      <a:pPr>
                        <a:defRPr sz="950">
                          <a:solidFill>
                            <a:srgbClr val="F8FAFC"/>
                          </a:solidFill>
                          <a:latin typeface="Arial"/>
                        </a:defRPr>
                      </a:pPr>
                      <a:r>
                        <a:t>• Kunci kuota stok flash sale</a:t>
                      </a:r>
                    </a:p>
                  </a:txBody>
                  <a:tcPr anchor="ctr">
                    <a:solidFill>
                      <a:srgbClr val="171F33"/>
                    </a:solidFill>
                  </a:tcPr>
                </a:tc>
                <a:tc>
                  <a:txBody>
                    <a:bodyPr wrap="square" lIns="73152" rIns="73152" tIns="54864" bIns="54864"/>
                    <a:lstStyle/>
                    <a:p>
                      <a:pPr>
                        <a:defRPr sz="950" b="1">
                          <a:solidFill>
                            <a:srgbClr val="EE4D2D"/>
                          </a:solidFill>
                          <a:latin typeface="Arial"/>
                        </a:defRPr>
                      </a:pPr>
                      <a:r>
                        <a:t>Kepastian transaksi harian tanpa selisih uang atau overselling.</a:t>
                      </a:r>
                    </a:p>
                  </a:txBody>
                  <a:tcPr anchor="ctr">
                    <a:solidFill>
                      <a:srgbClr val="171F33"/>
                    </a:solidFill>
                  </a:tcPr>
                </a:tc>
              </a:tr>
              <a:tr h="969264">
                <a:tc>
                  <a:txBody>
                    <a:bodyPr wrap="square" lIns="73152" rIns="73152" tIns="54864" bIns="54864"/>
                    <a:lstStyle/>
                    <a:p>
                      <a:pPr>
                        <a:defRPr sz="950" b="1">
                          <a:solidFill>
                            <a:srgbClr val="F8FAFC"/>
                          </a:solidFill>
                          <a:latin typeface="Arial"/>
                        </a:defRPr>
                      </a:pPr>
                      <a:r>
                        <a:t>2. MIS</a:t>
                      </a:r>
                    </a:p>
                    <a:p>
                      <a:pPr>
                        <a:defRPr sz="950" b="1">
                          <a:solidFill>
                            <a:srgbClr val="F8FAFC"/>
                          </a:solidFill>
                          <a:latin typeface="Arial"/>
                        </a:defRPr>
                      </a:pPr>
                      <a:r>
                        <a:t>(Management</a:t>
                      </a:r>
                    </a:p>
                    <a:p>
                      <a:pPr>
                        <a:defRPr sz="950" b="1">
                          <a:solidFill>
                            <a:srgbClr val="F8FAFC"/>
                          </a:solidFill>
                          <a:latin typeface="Arial"/>
                        </a:defRPr>
                      </a:pPr>
                      <a:r>
                        <a:t>Information System)</a:t>
                      </a:r>
                    </a:p>
                  </a:txBody>
                  <a:tcPr anchor="ctr">
                    <a:solidFill>
                      <a:srgbClr val="1E2943"/>
                    </a:solidFill>
                  </a:tcPr>
                </a:tc>
                <a:tc>
                  <a:txBody>
                    <a:bodyPr wrap="square" lIns="73152" rIns="73152" tIns="54864" bIns="54864"/>
                    <a:lstStyle/>
                    <a:p>
                      <a:pPr>
                        <a:defRPr sz="950">
                          <a:solidFill>
                            <a:srgbClr val="9AA4B2"/>
                          </a:solidFill>
                          <a:latin typeface="Arial"/>
                        </a:defRPr>
                      </a:pPr>
                      <a:r>
                        <a:t>Level Manajerial</a:t>
                      </a:r>
                    </a:p>
                    <a:p>
                      <a:pPr>
                        <a:defRPr sz="950">
                          <a:solidFill>
                            <a:srgbClr val="9AA4B2"/>
                          </a:solidFill>
                          <a:latin typeface="Arial"/>
                        </a:defRPr>
                      </a:pPr>
                      <a:r>
                        <a:t>(Pemilik Toko/Merchant)</a:t>
                      </a:r>
                    </a:p>
                  </a:txBody>
                  <a:tcPr anchor="ctr">
                    <a:solidFill>
                      <a:srgbClr val="1E2943"/>
                    </a:solidFill>
                  </a:tcPr>
                </a:tc>
                <a:tc>
                  <a:txBody>
                    <a:bodyPr wrap="square" lIns="73152" rIns="73152" tIns="54864" bIns="54864"/>
                    <a:lstStyle/>
                    <a:p>
                      <a:pPr>
                        <a:defRPr sz="950">
                          <a:solidFill>
                            <a:srgbClr val="9AA4B2"/>
                          </a:solidFill>
                          <a:latin typeface="Arial"/>
                        </a:defRPr>
                      </a:pPr>
                      <a:r>
                        <a:t>Mengubah data transaksi mentah TPS menjadi laporan analitik terstruktur dan grafik performa toko.</a:t>
                      </a:r>
                    </a:p>
                  </a:txBody>
                  <a:tcPr anchor="ctr">
                    <a:solidFill>
                      <a:srgbClr val="1E2943"/>
                    </a:solidFill>
                  </a:tcPr>
                </a:tc>
                <a:tc>
                  <a:txBody>
                    <a:bodyPr wrap="square" lIns="73152" rIns="73152" tIns="54864" bIns="54864"/>
                    <a:lstStyle/>
                    <a:p>
                      <a:pPr>
                        <a:defRPr sz="950">
                          <a:solidFill>
                            <a:srgbClr val="F8FAFC"/>
                          </a:solidFill>
                          <a:latin typeface="Arial"/>
                        </a:defRPr>
                      </a:pPr>
                      <a:r>
                        <a:t>• Shopee Seller Centre Dashboard</a:t>
                      </a:r>
                    </a:p>
                    <a:p>
                      <a:pPr>
                        <a:defRPr sz="950">
                          <a:solidFill>
                            <a:srgbClr val="F8FAFC"/>
                          </a:solidFill>
                          <a:latin typeface="Arial"/>
                        </a:defRPr>
                      </a:pPr>
                      <a:r>
                        <a:t>• Grafik omzet &amp; tren kata kunci</a:t>
                      </a:r>
                    </a:p>
                  </a:txBody>
                  <a:tcPr anchor="ctr">
                    <a:solidFill>
                      <a:srgbClr val="1E2943"/>
                    </a:solidFill>
                  </a:tcPr>
                </a:tc>
                <a:tc>
                  <a:txBody>
                    <a:bodyPr wrap="square" lIns="73152" rIns="73152" tIns="54864" bIns="54864"/>
                    <a:lstStyle/>
                    <a:p>
                      <a:pPr>
                        <a:defRPr sz="950" b="1">
                          <a:solidFill>
                            <a:srgbClr val="EE4D2D"/>
                          </a:solidFill>
                          <a:latin typeface="Arial"/>
                        </a:defRPr>
                      </a:pPr>
                      <a:r>
                        <a:t>Membantu merchant merencanakan persediaan stok barang secara tepat.</a:t>
                      </a:r>
                    </a:p>
                  </a:txBody>
                  <a:tcPr anchor="ctr">
                    <a:solidFill>
                      <a:srgbClr val="1E2943"/>
                    </a:solidFill>
                  </a:tcPr>
                </a:tc>
              </a:tr>
              <a:tr h="969264">
                <a:tc>
                  <a:txBody>
                    <a:bodyPr wrap="square" lIns="73152" rIns="73152" tIns="54864" bIns="54864"/>
                    <a:lstStyle/>
                    <a:p>
                      <a:pPr>
                        <a:defRPr sz="950" b="1">
                          <a:solidFill>
                            <a:srgbClr val="F8FAFC"/>
                          </a:solidFill>
                          <a:latin typeface="Arial"/>
                        </a:defRPr>
                      </a:pPr>
                      <a:r>
                        <a:t>3. DSS</a:t>
                      </a:r>
                    </a:p>
                    <a:p>
                      <a:pPr>
                        <a:defRPr sz="950" b="1">
                          <a:solidFill>
                            <a:srgbClr val="F8FAFC"/>
                          </a:solidFill>
                          <a:latin typeface="Arial"/>
                        </a:defRPr>
                      </a:pPr>
                      <a:r>
                        <a:t>(Decision Support</a:t>
                      </a:r>
                    </a:p>
                    <a:p>
                      <a:pPr>
                        <a:defRPr sz="950" b="1">
                          <a:solidFill>
                            <a:srgbClr val="F8FAFC"/>
                          </a:solidFill>
                          <a:latin typeface="Arial"/>
                        </a:defRPr>
                      </a:pPr>
                      <a:r>
                        <a:t>System)</a:t>
                      </a:r>
                    </a:p>
                  </a:txBody>
                  <a:tcPr anchor="ctr">
                    <a:solidFill>
                      <a:srgbClr val="171F33"/>
                    </a:solidFill>
                  </a:tcPr>
                </a:tc>
                <a:tc>
                  <a:txBody>
                    <a:bodyPr wrap="square" lIns="73152" rIns="73152" tIns="54864" bIns="54864"/>
                    <a:lstStyle/>
                    <a:p>
                      <a:pPr>
                        <a:defRPr sz="950">
                          <a:solidFill>
                            <a:srgbClr val="9AA4B2"/>
                          </a:solidFill>
                          <a:latin typeface="Arial"/>
                        </a:defRPr>
                      </a:pPr>
                      <a:r>
                        <a:t>Level Analitik Cerdas</a:t>
                      </a:r>
                    </a:p>
                    <a:p>
                      <a:pPr>
                        <a:defRPr sz="950">
                          <a:solidFill>
                            <a:srgbClr val="9AA4B2"/>
                          </a:solidFill>
                          <a:latin typeface="Arial"/>
                        </a:defRPr>
                      </a:pPr>
                      <a:r>
                        <a:t>(Sistem AI &amp; Analis)</a:t>
                      </a:r>
                    </a:p>
                  </a:txBody>
                  <a:tcPr anchor="ctr">
                    <a:solidFill>
                      <a:srgbClr val="171F33"/>
                    </a:solidFill>
                  </a:tcPr>
                </a:tc>
                <a:tc>
                  <a:txBody>
                    <a:bodyPr wrap="square" lIns="73152" rIns="73152" tIns="54864" bIns="54864"/>
                    <a:lstStyle/>
                    <a:p>
                      <a:pPr>
                        <a:defRPr sz="950">
                          <a:solidFill>
                            <a:srgbClr val="9AA4B2"/>
                          </a:solidFill>
                          <a:latin typeface="Arial"/>
                        </a:defRPr>
                      </a:pPr>
                      <a:r>
                        <a:t>Menerapkan algoritma analitik prediktif dan Machine Learning untuk keputusan semi-terstruktur otomatis.</a:t>
                      </a:r>
                    </a:p>
                  </a:txBody>
                  <a:tcPr anchor="ctr">
                    <a:solidFill>
                      <a:srgbClr val="171F33"/>
                    </a:solidFill>
                  </a:tcPr>
                </a:tc>
                <a:tc>
                  <a:txBody>
                    <a:bodyPr wrap="square" lIns="73152" rIns="73152" tIns="54864" bIns="54864"/>
                    <a:lstStyle/>
                    <a:p>
                      <a:pPr>
                        <a:defRPr sz="950">
                          <a:solidFill>
                            <a:srgbClr val="F8FAFC"/>
                          </a:solidFill>
                          <a:latin typeface="Arial"/>
                        </a:defRPr>
                      </a:pPr>
                      <a:r>
                        <a:t>• AI Credit Scoring SPayLater</a:t>
                      </a:r>
                    </a:p>
                    <a:p>
                      <a:pPr>
                        <a:defRPr sz="950">
                          <a:solidFill>
                            <a:srgbClr val="F8FAFC"/>
                          </a:solidFill>
                          <a:latin typeface="Arial"/>
                        </a:defRPr>
                      </a:pPr>
                      <a:r>
                        <a:t>• Dynamic discount &amp; rute kurir SPX</a:t>
                      </a:r>
                    </a:p>
                  </a:txBody>
                  <a:tcPr anchor="ctr">
                    <a:solidFill>
                      <a:srgbClr val="171F33"/>
                    </a:solidFill>
                  </a:tcPr>
                </a:tc>
                <a:tc>
                  <a:txBody>
                    <a:bodyPr wrap="square" lIns="73152" rIns="73152" tIns="54864" bIns="54864"/>
                    <a:lstStyle/>
                    <a:p>
                      <a:pPr>
                        <a:defRPr sz="950" b="1">
                          <a:solidFill>
                            <a:srgbClr val="EE4D2D"/>
                          </a:solidFill>
                          <a:latin typeface="Arial"/>
                        </a:defRPr>
                      </a:pPr>
                      <a:r>
                        <a:t>Menekan rasio kredit macet (NPL) dan menghemat biaya rute kurir.</a:t>
                      </a:r>
                    </a:p>
                  </a:txBody>
                  <a:tcPr anchor="ctr">
                    <a:solidFill>
                      <a:srgbClr val="171F33"/>
                    </a:solidFill>
                  </a:tcPr>
                </a:tc>
              </a:tr>
              <a:tr h="969264">
                <a:tc>
                  <a:txBody>
                    <a:bodyPr wrap="square" lIns="73152" rIns="73152" tIns="54864" bIns="54864"/>
                    <a:lstStyle/>
                    <a:p>
                      <a:pPr>
                        <a:defRPr sz="950" b="1">
                          <a:solidFill>
                            <a:srgbClr val="F8FAFC"/>
                          </a:solidFill>
                          <a:latin typeface="Arial"/>
                        </a:defRPr>
                      </a:pPr>
                      <a:r>
                        <a:t>4. IOS</a:t>
                      </a:r>
                    </a:p>
                    <a:p>
                      <a:pPr>
                        <a:defRPr sz="950" b="1">
                          <a:solidFill>
                            <a:srgbClr val="F8FAFC"/>
                          </a:solidFill>
                          <a:latin typeface="Arial"/>
                        </a:defRPr>
                      </a:pPr>
                      <a:r>
                        <a:t>(Inter-Organizational</a:t>
                      </a:r>
                    </a:p>
                    <a:p>
                      <a:pPr>
                        <a:defRPr sz="950" b="1">
                          <a:solidFill>
                            <a:srgbClr val="F8FAFC"/>
                          </a:solidFill>
                          <a:latin typeface="Arial"/>
                        </a:defRPr>
                      </a:pPr>
                      <a:r>
                        <a:t>System)</a:t>
                      </a:r>
                    </a:p>
                  </a:txBody>
                  <a:tcPr anchor="ctr">
                    <a:solidFill>
                      <a:srgbClr val="1E2943"/>
                    </a:solidFill>
                  </a:tcPr>
                </a:tc>
                <a:tc>
                  <a:txBody>
                    <a:bodyPr wrap="square" lIns="73152" rIns="73152" tIns="54864" bIns="54864"/>
                    <a:lstStyle/>
                    <a:p>
                      <a:pPr>
                        <a:defRPr sz="950">
                          <a:solidFill>
                            <a:srgbClr val="9AA4B2"/>
                          </a:solidFill>
                          <a:latin typeface="Arial"/>
                        </a:defRPr>
                      </a:pPr>
                      <a:r>
                        <a:t>Lintas Organisasi</a:t>
                      </a:r>
                    </a:p>
                    <a:p>
                      <a:pPr>
                        <a:defRPr sz="950">
                          <a:solidFill>
                            <a:srgbClr val="9AA4B2"/>
                          </a:solidFill>
                          <a:latin typeface="Arial"/>
                        </a:defRPr>
                      </a:pPr>
                      <a:r>
                        <a:t>(Shopee ↔ Bank ↔ Ekspedisi)</a:t>
                      </a:r>
                    </a:p>
                  </a:txBody>
                  <a:tcPr anchor="ctr">
                    <a:solidFill>
                      <a:srgbClr val="1E2943"/>
                    </a:solidFill>
                  </a:tcPr>
                </a:tc>
                <a:tc>
                  <a:txBody>
                    <a:bodyPr wrap="square" lIns="73152" rIns="73152" tIns="54864" bIns="54864"/>
                    <a:lstStyle/>
                    <a:p>
                      <a:pPr>
                        <a:defRPr sz="950">
                          <a:solidFill>
                            <a:srgbClr val="9AA4B2"/>
                          </a:solidFill>
                          <a:latin typeface="Arial"/>
                        </a:defRPr>
                      </a:pPr>
                      <a:r>
                        <a:t>Mengintegrasikan aliran data proses bisnis antar-perusahaan otomatis via B2B Open API.</a:t>
                      </a:r>
                    </a:p>
                  </a:txBody>
                  <a:tcPr anchor="ctr">
                    <a:solidFill>
                      <a:srgbClr val="1E2943"/>
                    </a:solidFill>
                  </a:tcPr>
                </a:tc>
                <a:tc>
                  <a:txBody>
                    <a:bodyPr wrap="square" lIns="73152" rIns="73152" tIns="54864" bIns="54864"/>
                    <a:lstStyle/>
                    <a:p>
                      <a:pPr>
                        <a:defRPr sz="950">
                          <a:solidFill>
                            <a:srgbClr val="F8FAFC"/>
                          </a:solidFill>
                          <a:latin typeface="Arial"/>
                        </a:defRPr>
                      </a:pPr>
                      <a:r>
                        <a:t>• Open API Virtual Account Bank</a:t>
                      </a:r>
                    </a:p>
                    <a:p>
                      <a:pPr>
                        <a:defRPr sz="950">
                          <a:solidFill>
                            <a:srgbClr val="F8FAFC"/>
                          </a:solidFill>
                          <a:latin typeface="Arial"/>
                        </a:defRPr>
                      </a:pPr>
                      <a:r>
                        <a:t>• Integrasi resi eksternal (J&amp;T, SiCepat)</a:t>
                      </a:r>
                    </a:p>
                  </a:txBody>
                  <a:tcPr anchor="ctr">
                    <a:solidFill>
                      <a:srgbClr val="1E2943"/>
                    </a:solidFill>
                  </a:tcPr>
                </a:tc>
                <a:tc>
                  <a:txBody>
                    <a:bodyPr wrap="square" lIns="73152" rIns="73152" tIns="54864" bIns="54864"/>
                    <a:lstStyle/>
                    <a:p>
                      <a:pPr>
                        <a:defRPr sz="950" b="1">
                          <a:solidFill>
                            <a:srgbClr val="EE4D2D"/>
                          </a:solidFill>
                          <a:latin typeface="Arial"/>
                        </a:defRPr>
                      </a:pPr>
                      <a:r>
                        <a:t>Status pembayaran otomatis lunas seketika tanpa jeda manual.</a:t>
                      </a:r>
                    </a:p>
                  </a:txBody>
                  <a:tcPr anchor="ctr">
                    <a:solidFill>
                      <a:srgbClr val="1E2943"/>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l">
              <a:spcAft>
                <a:spcPts val="400"/>
              </a:spcAft>
              <a:defRPr sz="1100" b="1">
                <a:solidFill>
                  <a:srgbClr val="EE4D2D"/>
                </a:solidFill>
                <a:latin typeface="Arial"/>
              </a:defRPr>
            </a:pPr>
            <a:r>
              <a:t>TABEL ANALISIS 4 · EVALUASI PERANCANGAN SISTEM INFORMASI</a:t>
            </a:r>
          </a:p>
          <a:p>
            <a:pPr algn="l">
              <a:defRPr sz="2200" b="1">
                <a:solidFill>
                  <a:srgbClr val="F8FAFC"/>
                </a:solidFill>
                <a:latin typeface="Arial"/>
              </a:defRPr>
            </a:pPr>
            <a:r>
              <a:t>Matriks Evaluasi: Kelebihan, Kelemahan, &amp; Rekomendasi Solusi</a:t>
            </a:r>
          </a:p>
        </p:txBody>
      </p:sp>
      <p:graphicFrame>
        <p:nvGraphicFramePr>
          <p:cNvPr id="3" name="Table 2"/>
          <p:cNvGraphicFramePr>
            <a:graphicFrameLocks noGrp="1"/>
          </p:cNvGraphicFramePr>
          <p:nvPr/>
        </p:nvGraphicFramePr>
        <p:xfrm>
          <a:off x="731520" y="1463040"/>
          <a:ext cx="10728655" cy="4846320"/>
        </p:xfrm>
        <a:graphic>
          <a:graphicData uri="http://schemas.openxmlformats.org/drawingml/2006/table">
            <a:tbl>
              <a:tblPr firstRow="1" bandRow="1">
                <a:tableStyleId>{5C22544A-7EE6-4342-B048-85BDC9FD1C3A}</a:tableStyleId>
              </a:tblPr>
              <a:tblGrid>
                <a:gridCol w="1645920"/>
                <a:gridCol w="2743200"/>
                <a:gridCol w="1920240"/>
                <a:gridCol w="2103120"/>
                <a:gridCol w="2316175"/>
              </a:tblGrid>
              <a:tr h="1211580">
                <a:tc>
                  <a:txBody>
                    <a:bodyPr/>
                    <a:lstStyle/>
                    <a:p>
                      <a:pPr algn="l">
                        <a:defRPr b="1" sz="1050">
                          <a:solidFill>
                            <a:srgbClr val="FF7A45"/>
                          </a:solidFill>
                          <a:latin typeface="Arial"/>
                        </a:defRPr>
                      </a:pPr>
                      <a:r>
                        <a:t>Dimensi Evaluasi</a:t>
                      </a:r>
                    </a:p>
                  </a:txBody>
                  <a:tcPr anchor="ctr">
                    <a:solidFill>
                      <a:srgbClr val="1C263D"/>
                    </a:solidFill>
                  </a:tcPr>
                </a:tc>
                <a:tc>
                  <a:txBody>
                    <a:bodyPr/>
                    <a:lstStyle/>
                    <a:p>
                      <a:pPr algn="l">
                        <a:defRPr b="1" sz="1050">
                          <a:solidFill>
                            <a:srgbClr val="FF7A45"/>
                          </a:solidFill>
                          <a:latin typeface="Arial"/>
                        </a:defRPr>
                      </a:pPr>
                      <a:r>
                        <a:t>Temuan &amp; Fakta Lapangan</a:t>
                      </a:r>
                    </a:p>
                  </a:txBody>
                  <a:tcPr anchor="ctr">
                    <a:solidFill>
                      <a:srgbClr val="1C263D"/>
                    </a:solidFill>
                  </a:tcPr>
                </a:tc>
                <a:tc>
                  <a:txBody>
                    <a:bodyPr/>
                    <a:lstStyle/>
                    <a:p>
                      <a:pPr algn="l">
                        <a:defRPr b="1" sz="1050">
                          <a:solidFill>
                            <a:srgbClr val="FF7A45"/>
                          </a:solidFill>
                          <a:latin typeface="Arial"/>
                        </a:defRPr>
                      </a:pPr>
                      <a:r>
                        <a:t>Prinsip SI Terkait</a:t>
                      </a:r>
                    </a:p>
                  </a:txBody>
                  <a:tcPr anchor="ctr">
                    <a:solidFill>
                      <a:srgbClr val="1C263D"/>
                    </a:solidFill>
                  </a:tcPr>
                </a:tc>
                <a:tc>
                  <a:txBody>
                    <a:bodyPr/>
                    <a:lstStyle/>
                    <a:p>
                      <a:pPr algn="l">
                        <a:defRPr b="1" sz="1050">
                          <a:solidFill>
                            <a:srgbClr val="FF7A45"/>
                          </a:solidFill>
                          <a:latin typeface="Arial"/>
                        </a:defRPr>
                      </a:pPr>
                      <a:r>
                        <a:t>Dampak / Risiko</a:t>
                      </a:r>
                    </a:p>
                  </a:txBody>
                  <a:tcPr anchor="ctr">
                    <a:solidFill>
                      <a:srgbClr val="1C263D"/>
                    </a:solidFill>
                  </a:tcPr>
                </a:tc>
                <a:tc>
                  <a:txBody>
                    <a:bodyPr/>
                    <a:lstStyle/>
                    <a:p>
                      <a:pPr algn="l">
                        <a:defRPr b="1" sz="1050">
                          <a:solidFill>
                            <a:srgbClr val="FF7A45"/>
                          </a:solidFill>
                          <a:latin typeface="Arial"/>
                        </a:defRPr>
                      </a:pPr>
                      <a:r>
                        <a:t>Rekomendasi Solusi</a:t>
                      </a:r>
                    </a:p>
                  </a:txBody>
                  <a:tcPr anchor="ctr">
                    <a:solidFill>
                      <a:srgbClr val="1C263D"/>
                    </a:solidFill>
                  </a:tcPr>
                </a:tc>
              </a:tr>
              <a:tr h="1211580">
                <a:tc>
                  <a:txBody>
                    <a:bodyPr wrap="square" lIns="73152" rIns="73152" tIns="54864" bIns="54864"/>
                    <a:lstStyle/>
                    <a:p>
                      <a:pPr>
                        <a:defRPr sz="950" b="1">
                          <a:solidFill>
                            <a:srgbClr val="F8FAFC"/>
                          </a:solidFill>
                          <a:latin typeface="Arial"/>
                        </a:defRPr>
                      </a:pPr>
                      <a:r>
                        <a:t>1. Kelebihan</a:t>
                      </a:r>
                    </a:p>
                    <a:p>
                      <a:pPr>
                        <a:defRPr sz="950" b="1">
                          <a:solidFill>
                            <a:srgbClr val="F8FAFC"/>
                          </a:solidFill>
                          <a:latin typeface="Arial"/>
                        </a:defRPr>
                      </a:pPr>
                      <a:r>
                        <a:t>(Strengths)</a:t>
                      </a:r>
                    </a:p>
                  </a:txBody>
                  <a:tcPr anchor="ctr">
                    <a:solidFill>
                      <a:srgbClr val="171F33"/>
                    </a:solidFill>
                  </a:tcPr>
                </a:tc>
                <a:tc>
                  <a:txBody>
                    <a:bodyPr wrap="square" lIns="73152" rIns="73152" tIns="54864" bIns="54864"/>
                    <a:lstStyle/>
                    <a:p>
                      <a:pPr>
                        <a:defRPr sz="950">
                          <a:solidFill>
                            <a:srgbClr val="F8FAFC"/>
                          </a:solidFill>
                          <a:latin typeface="Arial"/>
                        </a:defRPr>
                      </a:pPr>
                      <a:r>
                        <a:t>• Skalabilitas microservices cloud tinggi.</a:t>
                      </a:r>
                    </a:p>
                    <a:p>
                      <a:pPr>
                        <a:defRPr sz="950">
                          <a:solidFill>
                            <a:srgbClr val="F8FAFC"/>
                          </a:solidFill>
                          <a:latin typeface="Arial"/>
                        </a:defRPr>
                      </a:pPr>
                      <a:r>
                        <a:t>• Integrasi ekosistem lock-in (belanja, paylater, kurir).</a:t>
                      </a:r>
                    </a:p>
                    <a:p>
                      <a:pPr>
                        <a:defRPr sz="950">
                          <a:solidFill>
                            <a:srgbClr val="F8FAFC"/>
                          </a:solidFill>
                          <a:latin typeface="Arial"/>
                        </a:defRPr>
                      </a:pPr>
                      <a:r>
                        <a:t>• Personalisasi belanja AI.</a:t>
                      </a:r>
                    </a:p>
                  </a:txBody>
                  <a:tcPr anchor="ctr">
                    <a:solidFill>
                      <a:srgbClr val="171F33"/>
                    </a:solidFill>
                  </a:tcPr>
                </a:tc>
                <a:tc>
                  <a:txBody>
                    <a:bodyPr wrap="square" lIns="73152" rIns="73152" tIns="54864" bIns="54864"/>
                    <a:lstStyle/>
                    <a:p>
                      <a:pPr>
                        <a:defRPr sz="950">
                          <a:solidFill>
                            <a:srgbClr val="F8FAFC"/>
                          </a:solidFill>
                          <a:latin typeface="Arial"/>
                        </a:defRPr>
                      </a:pPr>
                      <a:r>
                        <a:t>• Dapat Dikembangkan</a:t>
                      </a:r>
                    </a:p>
                    <a:p>
                      <a:pPr>
                        <a:defRPr sz="950">
                          <a:solidFill>
                            <a:srgbClr val="F8FAFC"/>
                          </a:solidFill>
                          <a:latin typeface="Arial"/>
                        </a:defRPr>
                      </a:pPr>
                      <a:r>
                        <a:t>• Terintegrasi</a:t>
                      </a:r>
                    </a:p>
                    <a:p>
                      <a:pPr>
                        <a:defRPr sz="950">
                          <a:solidFill>
                            <a:srgbClr val="F8FAFC"/>
                          </a:solidFill>
                          <a:latin typeface="Arial"/>
                        </a:defRPr>
                      </a:pPr>
                      <a:r>
                        <a:t>• User-Oriented</a:t>
                      </a:r>
                    </a:p>
                  </a:txBody>
                  <a:tcPr anchor="ctr">
                    <a:solidFill>
                      <a:srgbClr val="171F33"/>
                    </a:solidFill>
                  </a:tcPr>
                </a:tc>
                <a:tc>
                  <a:txBody>
                    <a:bodyPr wrap="square" lIns="73152" rIns="73152" tIns="54864" bIns="54864"/>
                    <a:lstStyle/>
                    <a:p>
                      <a:pPr>
                        <a:defRPr sz="950">
                          <a:solidFill>
                            <a:srgbClr val="9AA4B2"/>
                          </a:solidFill>
                          <a:latin typeface="Arial"/>
                        </a:defRPr>
                      </a:pPr>
                      <a:r>
                        <a:t>Retensi pengguna sangat kuat &amp; konversi penjualan tinggi.</a:t>
                      </a:r>
                    </a:p>
                  </a:txBody>
                  <a:tcPr anchor="ctr">
                    <a:solidFill>
                      <a:srgbClr val="171F33"/>
                    </a:solidFill>
                  </a:tcPr>
                </a:tc>
                <a:tc>
                  <a:txBody>
                    <a:bodyPr wrap="square" lIns="73152" rIns="73152" tIns="54864" bIns="54864"/>
                    <a:lstStyle/>
                    <a:p>
                      <a:pPr>
                        <a:defRPr sz="950" b="1">
                          <a:solidFill>
                            <a:srgbClr val="EE4D2D"/>
                          </a:solidFill>
                          <a:latin typeface="Arial"/>
                        </a:defRPr>
                      </a:pPr>
                      <a:r>
                        <a:t>Pertahankan modularitas layanan mandiri dan perkuat ekosistem perbankan digital.</a:t>
                      </a:r>
                    </a:p>
                  </a:txBody>
                  <a:tcPr anchor="ctr">
                    <a:solidFill>
                      <a:srgbClr val="171F33"/>
                    </a:solidFill>
                  </a:tcPr>
                </a:tc>
              </a:tr>
              <a:tr h="1211580">
                <a:tc>
                  <a:txBody>
                    <a:bodyPr wrap="square" lIns="73152" rIns="73152" tIns="54864" bIns="54864"/>
                    <a:lstStyle/>
                    <a:p>
                      <a:pPr>
                        <a:defRPr sz="950" b="1">
                          <a:solidFill>
                            <a:srgbClr val="F8FAFC"/>
                          </a:solidFill>
                          <a:latin typeface="Arial"/>
                        </a:defRPr>
                      </a:pPr>
                      <a:r>
                        <a:t>2. Kelemahan</a:t>
                      </a:r>
                    </a:p>
                    <a:p>
                      <a:pPr>
                        <a:defRPr sz="950" b="1">
                          <a:solidFill>
                            <a:srgbClr val="F8FAFC"/>
                          </a:solidFill>
                          <a:latin typeface="Arial"/>
                        </a:defRPr>
                      </a:pPr>
                      <a:r>
                        <a:t>(Weaknesses)</a:t>
                      </a:r>
                    </a:p>
                  </a:txBody>
                  <a:tcPr anchor="ctr">
                    <a:solidFill>
                      <a:srgbClr val="1E2943"/>
                    </a:solidFill>
                  </a:tcPr>
                </a:tc>
                <a:tc>
                  <a:txBody>
                    <a:bodyPr wrap="square" lIns="73152" rIns="73152" tIns="54864" bIns="54864"/>
                    <a:lstStyle/>
                    <a:p>
                      <a:pPr>
                        <a:defRPr sz="950">
                          <a:solidFill>
                            <a:srgbClr val="F8FAFC"/>
                          </a:solidFill>
                          <a:latin typeface="Arial"/>
                        </a:defRPr>
                      </a:pPr>
                      <a:r>
                        <a:t>• Application Bloatware: Kelebihan fitur non-core (games, video pendek, live stream).</a:t>
                      </a:r>
                    </a:p>
                    <a:p>
                      <a:pPr>
                        <a:defRPr sz="950">
                          <a:solidFill>
                            <a:srgbClr val="F8FAFC"/>
                          </a:solidFill>
                          <a:latin typeface="Arial"/>
                        </a:defRPr>
                      </a:pPr>
                      <a:r>
                        <a:t>• Flash Sale Latency: Request timeout pada detik pertama promo 1 rupiah.</a:t>
                      </a:r>
                    </a:p>
                  </a:txBody>
                  <a:tcPr anchor="ctr">
                    <a:solidFill>
                      <a:srgbClr val="1E2943"/>
                    </a:solidFill>
                  </a:tcPr>
                </a:tc>
                <a:tc>
                  <a:txBody>
                    <a:bodyPr wrap="square" lIns="73152" rIns="73152" tIns="54864" bIns="54864"/>
                    <a:lstStyle/>
                    <a:p>
                      <a:pPr>
                        <a:defRPr sz="950">
                          <a:solidFill>
                            <a:srgbClr val="F8FAFC"/>
                          </a:solidFill>
                          <a:latin typeface="Arial"/>
                        </a:defRPr>
                      </a:pPr>
                      <a:r>
                        <a:t>• Melanggar Prinsip Sederhana</a:t>
                      </a:r>
                    </a:p>
                    <a:p>
                      <a:pPr>
                        <a:defRPr sz="950">
                          <a:solidFill>
                            <a:srgbClr val="F8FAFC"/>
                          </a:solidFill>
                          <a:latin typeface="Arial"/>
                        </a:defRPr>
                      </a:pPr>
                      <a:r>
                        <a:t>• Tantangan Prinsip Scalability</a:t>
                      </a:r>
                    </a:p>
                  </a:txBody>
                  <a:tcPr anchor="ctr">
                    <a:solidFill>
                      <a:srgbClr val="1E2943"/>
                    </a:solidFill>
                  </a:tcPr>
                </a:tc>
                <a:tc>
                  <a:txBody>
                    <a:bodyPr wrap="square" lIns="73152" rIns="73152" tIns="54864" bIns="54864"/>
                    <a:lstStyle/>
                    <a:p>
                      <a:pPr>
                        <a:defRPr sz="950">
                          <a:solidFill>
                            <a:srgbClr val="9AA4B2"/>
                          </a:solidFill>
                          <a:latin typeface="Arial"/>
                        </a:defRPr>
                      </a:pPr>
                      <a:r>
                        <a:t>Aplikasi boros memori RAM, lambat, dan baterai cepat panas di HP entry-level.</a:t>
                      </a:r>
                    </a:p>
                  </a:txBody>
                  <a:tcPr anchor="ctr">
                    <a:solidFill>
                      <a:srgbClr val="1E2943"/>
                    </a:solidFill>
                  </a:tcPr>
                </a:tc>
                <a:tc>
                  <a:txBody>
                    <a:bodyPr wrap="square" lIns="73152" rIns="73152" tIns="54864" bIns="54864"/>
                    <a:lstStyle/>
                    <a:p>
                      <a:pPr>
                        <a:defRPr sz="950" b="1">
                          <a:solidFill>
                            <a:srgbClr val="EE4D2D"/>
                          </a:solidFill>
                          <a:latin typeface="Arial"/>
                        </a:defRPr>
                      </a:pPr>
                      <a:r>
                        <a:t>Terapkan Micro-Frontends atau rilis resmi Shopee Lite (khusus core e-commerce).</a:t>
                      </a:r>
                    </a:p>
                  </a:txBody>
                  <a:tcPr anchor="ctr">
                    <a:solidFill>
                      <a:srgbClr val="1E2943"/>
                    </a:solidFill>
                  </a:tcPr>
                </a:tc>
              </a:tr>
              <a:tr h="1211580">
                <a:tc>
                  <a:txBody>
                    <a:bodyPr wrap="square" lIns="73152" rIns="73152" tIns="54864" bIns="54864"/>
                    <a:lstStyle/>
                    <a:p>
                      <a:pPr>
                        <a:defRPr sz="950" b="1">
                          <a:solidFill>
                            <a:srgbClr val="F8FAFC"/>
                          </a:solidFill>
                          <a:latin typeface="Arial"/>
                        </a:defRPr>
                      </a:pPr>
                      <a:r>
                        <a:t>3. Keamanan</a:t>
                      </a:r>
                    </a:p>
                    <a:p>
                      <a:pPr>
                        <a:defRPr sz="950" b="1">
                          <a:solidFill>
                            <a:srgbClr val="F8FAFC"/>
                          </a:solidFill>
                          <a:latin typeface="Arial"/>
                        </a:defRPr>
                      </a:pPr>
                      <a:r>
                        <a:t>(Security)</a:t>
                      </a:r>
                    </a:p>
                  </a:txBody>
                  <a:tcPr anchor="ctr">
                    <a:solidFill>
                      <a:srgbClr val="171F33"/>
                    </a:solidFill>
                  </a:tcPr>
                </a:tc>
                <a:tc>
                  <a:txBody>
                    <a:bodyPr wrap="square" lIns="73152" rIns="73152" tIns="54864" bIns="54864"/>
                    <a:lstStyle/>
                    <a:p>
                      <a:pPr>
                        <a:defRPr sz="950">
                          <a:solidFill>
                            <a:srgbClr val="F8FAFC"/>
                          </a:solidFill>
                          <a:latin typeface="Arial"/>
                        </a:defRPr>
                      </a:pPr>
                      <a:r>
                        <a:t>• Social Engineering: Pengguna awam rentan tertipu telepon/pesan oknum yang meminta kode SMS OTP.</a:t>
                      </a:r>
                    </a:p>
                  </a:txBody>
                  <a:tcPr anchor="ctr">
                    <a:solidFill>
                      <a:srgbClr val="171F33"/>
                    </a:solidFill>
                  </a:tcPr>
                </a:tc>
                <a:tc>
                  <a:txBody>
                    <a:bodyPr wrap="square" lIns="73152" rIns="73152" tIns="54864" bIns="54864"/>
                    <a:lstStyle/>
                    <a:p>
                      <a:pPr>
                        <a:defRPr sz="950">
                          <a:solidFill>
                            <a:srgbClr val="F8FAFC"/>
                          </a:solidFill>
                          <a:latin typeface="Arial"/>
                        </a:defRPr>
                      </a:pPr>
                      <a:r>
                        <a:t>• Celah Prinsip Aman</a:t>
                      </a:r>
                    </a:p>
                    <a:p>
                      <a:pPr>
                        <a:defRPr sz="950">
                          <a:solidFill>
                            <a:srgbClr val="9AA4B2"/>
                          </a:solidFill>
                          <a:latin typeface="Arial"/>
                        </a:defRPr>
                      </a:pPr>
                      <a:r>
                        <a:t>(Human Factor)</a:t>
                      </a:r>
                    </a:p>
                  </a:txBody>
                  <a:tcPr anchor="ctr">
                    <a:solidFill>
                      <a:srgbClr val="171F33"/>
                    </a:solidFill>
                  </a:tcPr>
                </a:tc>
                <a:tc>
                  <a:txBody>
                    <a:bodyPr wrap="square" lIns="73152" rIns="73152" tIns="54864" bIns="54864"/>
                    <a:lstStyle/>
                    <a:p>
                      <a:pPr>
                        <a:defRPr sz="950">
                          <a:solidFill>
                            <a:srgbClr val="9AA4B2"/>
                          </a:solidFill>
                          <a:latin typeface="Arial"/>
                        </a:defRPr>
                      </a:pPr>
                      <a:r>
                        <a:t>Pembobolan akun dan penyalahgunaan limit kredit SPayLater.</a:t>
                      </a:r>
                    </a:p>
                  </a:txBody>
                  <a:tcPr anchor="ctr">
                    <a:solidFill>
                      <a:srgbClr val="171F33"/>
                    </a:solidFill>
                  </a:tcPr>
                </a:tc>
                <a:tc>
                  <a:txBody>
                    <a:bodyPr wrap="square" lIns="73152" rIns="73152" tIns="54864" bIns="54864"/>
                    <a:lstStyle/>
                    <a:p>
                      <a:pPr>
                        <a:defRPr sz="950" b="1">
                          <a:solidFill>
                            <a:srgbClr val="EE4D2D"/>
                          </a:solidFill>
                          <a:latin typeface="Arial"/>
                        </a:defRPr>
                      </a:pPr>
                      <a:r>
                        <a:t>Gantikan SMS OTP dengan otentikasi biometrik FIDO2 Passkeys (Sidik Jari / Face ID).</a:t>
                      </a:r>
                    </a:p>
                  </a:txBody>
                  <a:tcPr anchor="ctr">
                    <a:solidFill>
                      <a:srgbClr val="171F33"/>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l">
              <a:spcAft>
                <a:spcPts val="400"/>
              </a:spcAft>
              <a:defRPr sz="1100" b="1">
                <a:solidFill>
                  <a:srgbClr val="EE4D2D"/>
                </a:solidFill>
                <a:latin typeface="Arial"/>
              </a:defRPr>
            </a:pPr>
            <a:r>
              <a:t>LANDASAN DATA &amp; VALIDASI AKADEMIK</a:t>
            </a:r>
          </a:p>
          <a:p>
            <a:pPr algn="l">
              <a:defRPr sz="2200" b="1">
                <a:solidFill>
                  <a:srgbClr val="F8FAFC"/>
                </a:solidFill>
                <a:latin typeface="Arial"/>
              </a:defRPr>
            </a:pPr>
            <a:r>
              <a:t>Validasi Faktual: 4 Sumber Resmi Analisis Sistem Shopee</a:t>
            </a:r>
          </a:p>
        </p:txBody>
      </p:sp>
      <p:sp>
        <p:nvSpPr>
          <p:cNvPr id="3" name="Rounded Rectangle 2"/>
          <p:cNvSpPr/>
          <p:nvPr/>
        </p:nvSpPr>
        <p:spPr>
          <a:xfrm>
            <a:off x="731520" y="1554480"/>
            <a:ext cx="5230368" cy="2194560"/>
          </a:xfrm>
          <a:prstGeom prst="roundRect">
            <a:avLst/>
          </a:prstGeom>
          <a:solidFill>
            <a:srgbClr val="171F33"/>
          </a:solidFill>
          <a:ln w="12700">
            <a:solidFill>
              <a:srgbClr val="2E3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554480"/>
            <a:ext cx="109728" cy="2194560"/>
          </a:xfrm>
          <a:prstGeom prst="rect">
            <a:avLst/>
          </a:prstGeom>
          <a:solidFill>
            <a:srgbClr val="EE4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783080"/>
            <a:ext cx="4681728" cy="1737360"/>
          </a:xfrm>
          <a:prstGeom prst="rect">
            <a:avLst/>
          </a:prstGeom>
          <a:noFill/>
        </p:spPr>
        <p:txBody>
          <a:bodyPr wrap="square">
            <a:spAutoFit/>
          </a:bodyPr>
          <a:lstStyle/>
          <a:p>
            <a:pPr>
              <a:spcAft>
                <a:spcPts val="800"/>
              </a:spcAft>
              <a:defRPr b="1" sz="1300">
                <a:solidFill>
                  <a:srgbClr val="EE4D2D"/>
                </a:solidFill>
                <a:latin typeface="Arial"/>
              </a:defRPr>
            </a:pPr>
            <a:r>
              <a:t>1. Shopee Engineering Blog</a:t>
            </a:r>
          </a:p>
          <a:p>
            <a:pPr>
              <a:defRPr sz="1100">
                <a:solidFill>
                  <a:srgbClr val="9AA4B2"/>
                </a:solidFill>
                <a:latin typeface="Arial"/>
              </a:defRPr>
            </a:pPr>
            <a:r>
              <a:t>Dokumentasi resmi arsitektur backend microservices Go/Java, caching in-memory Redis, dan distributed SQL TiDB.</a:t>
            </a:r>
          </a:p>
        </p:txBody>
      </p:sp>
      <p:sp>
        <p:nvSpPr>
          <p:cNvPr id="6" name="Rounded Rectangle 5"/>
          <p:cNvSpPr/>
          <p:nvPr/>
        </p:nvSpPr>
        <p:spPr>
          <a:xfrm>
            <a:off x="6217920" y="1554480"/>
            <a:ext cx="5230368" cy="2194560"/>
          </a:xfrm>
          <a:prstGeom prst="roundRect">
            <a:avLst/>
          </a:prstGeom>
          <a:solidFill>
            <a:srgbClr val="171F33"/>
          </a:solidFill>
          <a:ln w="12700">
            <a:solidFill>
              <a:srgbClr val="2E3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554480"/>
            <a:ext cx="109728" cy="21945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783080"/>
            <a:ext cx="4681728" cy="1737360"/>
          </a:xfrm>
          <a:prstGeom prst="rect">
            <a:avLst/>
          </a:prstGeom>
          <a:noFill/>
        </p:spPr>
        <p:txBody>
          <a:bodyPr wrap="square">
            <a:spAutoFit/>
          </a:bodyPr>
          <a:lstStyle/>
          <a:p>
            <a:pPr>
              <a:spcAft>
                <a:spcPts val="800"/>
              </a:spcAft>
              <a:defRPr b="1" sz="1300">
                <a:solidFill>
                  <a:srgbClr val="0284C7"/>
                </a:solidFill>
                <a:latin typeface="Arial"/>
              </a:defRPr>
            </a:pPr>
            <a:r>
              <a:t>2. Laporan Sea Limited (NYSE: SE)</a:t>
            </a:r>
          </a:p>
          <a:p>
            <a:pPr>
              <a:defRPr sz="1100">
                <a:solidFill>
                  <a:srgbClr val="9AA4B2"/>
                </a:solidFill>
                <a:latin typeface="Arial"/>
              </a:defRPr>
            </a:pPr>
            <a:r>
              <a:t>Laporan keterbukaan bursa saham yang memvalidasi infrastruktur cloud Tencent &amp; AWS serta volume transaksi jutaan order per hari.</a:t>
            </a:r>
          </a:p>
        </p:txBody>
      </p:sp>
      <p:sp>
        <p:nvSpPr>
          <p:cNvPr id="9" name="Rounded Rectangle 8"/>
          <p:cNvSpPr/>
          <p:nvPr/>
        </p:nvSpPr>
        <p:spPr>
          <a:xfrm>
            <a:off x="731520" y="4069080"/>
            <a:ext cx="5230368" cy="2194560"/>
          </a:xfrm>
          <a:prstGeom prst="roundRect">
            <a:avLst/>
          </a:prstGeom>
          <a:solidFill>
            <a:srgbClr val="171F33"/>
          </a:solidFill>
          <a:ln w="12700">
            <a:solidFill>
              <a:srgbClr val="2E3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4069080"/>
            <a:ext cx="109728" cy="219456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297680"/>
            <a:ext cx="4681728" cy="1737360"/>
          </a:xfrm>
          <a:prstGeom prst="rect">
            <a:avLst/>
          </a:prstGeom>
          <a:noFill/>
        </p:spPr>
        <p:txBody>
          <a:bodyPr wrap="square">
            <a:spAutoFit/>
          </a:bodyPr>
          <a:lstStyle/>
          <a:p>
            <a:pPr>
              <a:spcAft>
                <a:spcPts val="800"/>
              </a:spcAft>
              <a:defRPr b="1" sz="1300">
                <a:solidFill>
                  <a:srgbClr val="A855F7"/>
                </a:solidFill>
                <a:latin typeface="Arial"/>
              </a:defRPr>
            </a:pPr>
            <a:r>
              <a:t>3. Regulasi OJK &amp; Bank Indonesia</a:t>
            </a:r>
          </a:p>
          <a:p>
            <a:pPr>
              <a:defRPr sz="1100">
                <a:solidFill>
                  <a:srgbClr val="9AA4B2"/>
                </a:solidFill>
                <a:latin typeface="Arial"/>
              </a:defRPr>
            </a:pPr>
            <a:r>
              <a:t>Bukti legalitas SPayLater (PT Commerce Finance) dengan sistem scoring AI terhubung ke SLIK OJK dan Virtual Account bank.</a:t>
            </a:r>
          </a:p>
        </p:txBody>
      </p:sp>
      <p:sp>
        <p:nvSpPr>
          <p:cNvPr id="12" name="Rounded Rectangle 11"/>
          <p:cNvSpPr/>
          <p:nvPr/>
        </p:nvSpPr>
        <p:spPr>
          <a:xfrm>
            <a:off x="6217920" y="4069080"/>
            <a:ext cx="5230368" cy="2194560"/>
          </a:xfrm>
          <a:prstGeom prst="roundRect">
            <a:avLst/>
          </a:prstGeom>
          <a:solidFill>
            <a:srgbClr val="171F33"/>
          </a:solidFill>
          <a:ln w="12700">
            <a:solidFill>
              <a:srgbClr val="2E3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4069080"/>
            <a:ext cx="109728" cy="21945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4297680"/>
            <a:ext cx="4681728" cy="1737360"/>
          </a:xfrm>
          <a:prstGeom prst="rect">
            <a:avLst/>
          </a:prstGeom>
          <a:noFill/>
        </p:spPr>
        <p:txBody>
          <a:bodyPr wrap="square">
            <a:spAutoFit/>
          </a:bodyPr>
          <a:lstStyle/>
          <a:p>
            <a:pPr>
              <a:spcAft>
                <a:spcPts val="800"/>
              </a:spcAft>
              <a:defRPr b="1" sz="1300">
                <a:solidFill>
                  <a:srgbClr val="10B981"/>
                </a:solidFill>
                <a:latin typeface="Arial"/>
              </a:defRPr>
            </a:pPr>
            <a:r>
              <a:t>4. Ketentuan Resmi Garansi Shopee</a:t>
            </a:r>
          </a:p>
          <a:p>
            <a:pPr>
              <a:defRPr sz="1100">
                <a:solidFill>
                  <a:srgbClr val="9AA4B2"/>
                </a:solidFill>
                <a:latin typeface="Arial"/>
              </a:defRPr>
            </a:pPr>
            <a:r>
              <a:t>Mekanisme Rekening Penampung (Escrow Account) dan SLA kurir SPX Express yang membuktikan keandalan proses transaksi.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lgn="l">
              <a:spcAft>
                <a:spcPts val="400"/>
              </a:spcAft>
              <a:defRPr sz="1100" b="1">
                <a:solidFill>
                  <a:srgbClr val="EE4D2D"/>
                </a:solidFill>
                <a:latin typeface="Arial"/>
              </a:defRPr>
            </a:pPr>
            <a:r>
              <a:t>MEDIA PENDUKUNG</a:t>
            </a:r>
          </a:p>
          <a:p>
            <a:pPr algn="l">
              <a:defRPr sz="2200" b="1">
                <a:solidFill>
                  <a:srgbClr val="F8FAFC"/>
                </a:solidFill>
                <a:latin typeface="Arial"/>
              </a:defRPr>
            </a:pPr>
            <a:r>
              <a:t>Video Presentasi &amp; Demonstrasi Sistem</a:t>
            </a:r>
          </a:p>
        </p:txBody>
      </p:sp>
      <p:sp>
        <p:nvSpPr>
          <p:cNvPr id="3" name="Rounded Rectangle 2"/>
          <p:cNvSpPr/>
          <p:nvPr/>
        </p:nvSpPr>
        <p:spPr>
          <a:xfrm>
            <a:off x="2011680" y="1554480"/>
            <a:ext cx="8168335" cy="4663440"/>
          </a:xfrm>
          <a:prstGeom prst="roundRect">
            <a:avLst/>
          </a:prstGeom>
          <a:solidFill>
            <a:srgbClr val="171F33"/>
          </a:solidFill>
          <a:ln w="19050">
            <a:solidFill>
              <a:srgbClr val="2E3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rot="5400000">
            <a:off x="5760720" y="3108960"/>
            <a:ext cx="731520" cy="731520"/>
          </a:xfrm>
          <a:prstGeom prst="triangle">
            <a:avLst/>
          </a:prstGeom>
          <a:solidFill>
            <a:srgbClr val="EE4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0" y="4114800"/>
            <a:ext cx="7619695" cy="1645920"/>
          </a:xfrm>
          <a:prstGeom prst="rect">
            <a:avLst/>
          </a:prstGeom>
          <a:noFill/>
        </p:spPr>
        <p:txBody>
          <a:bodyPr wrap="square">
            <a:spAutoFit/>
          </a:bodyPr>
          <a:lstStyle/>
          <a:p>
            <a:pPr algn="ctr">
              <a:spcAft>
                <a:spcPts val="600"/>
              </a:spcAft>
              <a:defRPr b="1" sz="1600">
                <a:solidFill>
                  <a:srgbClr val="F8FAFC"/>
                </a:solidFill>
                <a:latin typeface="Arial"/>
              </a:defRPr>
            </a:pPr>
            <a:r>
              <a:t>Video Pendukung: video.mp4</a:t>
            </a:r>
          </a:p>
          <a:p>
            <a:pPr algn="ctr">
              <a:defRPr sz="1200">
                <a:solidFill>
                  <a:srgbClr val="9AA4B2"/>
                </a:solidFill>
                <a:latin typeface="Arial"/>
              </a:defRPr>
            </a:pPr>
            <a:r>
              <a:t>Tersedia file terpisah video.mp4 di folder proyek untuk pemutaran video demonstrasi interaktif.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ectangle 1"/>
          <p:cNvSpPr/>
          <p:nvPr/>
        </p:nvSpPr>
        <p:spPr>
          <a:xfrm>
            <a:off x="731520" y="731520"/>
            <a:ext cx="10728655" cy="5394960"/>
          </a:xfrm>
          <a:prstGeom prst="rect">
            <a:avLst/>
          </a:prstGeom>
          <a:solidFill>
            <a:srgbClr val="101624"/>
          </a:solidFill>
          <a:ln w="19050">
            <a:solidFill>
              <a:srgbClr val="26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10728655" cy="73152"/>
          </a:xfrm>
          <a:prstGeom prst="rect">
            <a:avLst/>
          </a:prstGeom>
          <a:solidFill>
            <a:srgbClr val="EE4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371600"/>
            <a:ext cx="9448495" cy="4114800"/>
          </a:xfrm>
          <a:prstGeom prst="rect">
            <a:avLst/>
          </a:prstGeom>
          <a:noFill/>
        </p:spPr>
        <p:txBody>
          <a:bodyPr wrap="square">
            <a:spAutoFit/>
          </a:bodyPr>
          <a:lstStyle/>
          <a:p>
            <a:pPr>
              <a:spcAft>
                <a:spcPts val="1800"/>
              </a:spcAft>
              <a:defRPr sz="1300" b="1">
                <a:solidFill>
                  <a:srgbClr val="EE4D2D"/>
                </a:solidFill>
                <a:latin typeface="Arial"/>
              </a:defRPr>
            </a:pPr>
            <a:r>
              <a:t>SESI DISKUSI AKADEMIK</a:t>
            </a:r>
          </a:p>
          <a:p>
            <a:pPr>
              <a:spcAft>
                <a:spcPts val="1800"/>
              </a:spcAft>
              <a:defRPr sz="3600" b="1">
                <a:solidFill>
                  <a:srgbClr val="F8FAFC"/>
                </a:solidFill>
                <a:latin typeface="Arial"/>
              </a:defRPr>
            </a:pPr>
            <a:r>
              <a:t>Terima Kasih atas Perhatian Anda.</a:t>
            </a:r>
          </a:p>
          <a:p>
            <a:pPr>
              <a:spcAft>
                <a:spcPts val="3600"/>
              </a:spcAft>
              <a:defRPr sz="1500" i="1">
                <a:solidFill>
                  <a:srgbClr val="9AA4B2"/>
                </a:solidFill>
                <a:latin typeface="Arial"/>
              </a:defRPr>
            </a:pPr>
            <a:r>
              <a:t>"Sistem Informasi yang unggul bukan sekadar yang paling canggih, melainkan yang paling sederhana, andal, dan menjawab kebutuhan nyata penggunanya."</a:t>
            </a:r>
          </a:p>
        </p:txBody>
      </p:sp>
      <p:sp>
        <p:nvSpPr>
          <p:cNvPr id="5" name="Rounded Rectangle 4"/>
          <p:cNvSpPr/>
          <p:nvPr/>
        </p:nvSpPr>
        <p:spPr>
          <a:xfrm>
            <a:off x="1371600" y="4297680"/>
            <a:ext cx="5303520" cy="640080"/>
          </a:xfrm>
          <a:prstGeom prst="roundRect">
            <a:avLst/>
          </a:prstGeom>
          <a:solidFill>
            <a:srgbClr val="2D1919"/>
          </a:solidFill>
          <a:ln w="19050">
            <a:solidFill>
              <a:srgbClr val="EE4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300">
                <a:solidFill>
                  <a:srgbClr val="EE4D2D"/>
                </a:solidFill>
                <a:latin typeface="Arial"/>
              </a:defRPr>
            </a:pPr>
            <a:r>
              <a:t>Silakan, Sesi Tanya Jawab (Q&amp;A) Saya Buka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